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1"/>
  </p:sldMasterIdLst>
  <p:notesMasterIdLst>
    <p:notesMasterId r:id="rId24"/>
  </p:notesMasterIdLst>
  <p:handoutMasterIdLst>
    <p:handoutMasterId r:id="rId25"/>
  </p:handoutMasterIdLst>
  <p:sldIdLst>
    <p:sldId id="515" r:id="rId2"/>
    <p:sldId id="309" r:id="rId3"/>
    <p:sldId id="464" r:id="rId4"/>
    <p:sldId id="524" r:id="rId5"/>
    <p:sldId id="525" r:id="rId6"/>
    <p:sldId id="516" r:id="rId7"/>
    <p:sldId id="526" r:id="rId8"/>
    <p:sldId id="527" r:id="rId9"/>
    <p:sldId id="528" r:id="rId10"/>
    <p:sldId id="529" r:id="rId11"/>
    <p:sldId id="530" r:id="rId12"/>
    <p:sldId id="540" r:id="rId13"/>
    <p:sldId id="541" r:id="rId14"/>
    <p:sldId id="542" r:id="rId15"/>
    <p:sldId id="523" r:id="rId16"/>
    <p:sldId id="531" r:id="rId17"/>
    <p:sldId id="532" r:id="rId18"/>
    <p:sldId id="535" r:id="rId19"/>
    <p:sldId id="536" r:id="rId20"/>
    <p:sldId id="443" r:id="rId21"/>
    <p:sldId id="538" r:id="rId22"/>
    <p:sldId id="343" r:id="rId23"/>
  </p:sldIdLst>
  <p:sldSz cx="12192000" cy="6858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userDrawn="1">
          <p15:clr>
            <a:srgbClr val="A4A3A4"/>
          </p15:clr>
        </p15:guide>
        <p15:guide id="2" orient="horz" pos="4088" userDrawn="1">
          <p15:clr>
            <a:srgbClr val="A4A3A4"/>
          </p15:clr>
        </p15:guide>
        <p15:guide id="3" orient="horz" pos="935" userDrawn="1">
          <p15:clr>
            <a:srgbClr val="A4A3A4"/>
          </p15:clr>
        </p15:guide>
        <p15:guide id="4" orient="horz" pos="754" userDrawn="1">
          <p15:clr>
            <a:srgbClr val="A4A3A4"/>
          </p15:clr>
        </p15:guide>
        <p15:guide id="5" pos="3840" userDrawn="1">
          <p15:clr>
            <a:srgbClr val="A4A3A4"/>
          </p15:clr>
        </p15:guide>
        <p15:guide id="6" pos="7357" userDrawn="1">
          <p15:clr>
            <a:srgbClr val="A4A3A4"/>
          </p15:clr>
        </p15:guide>
        <p15:guide id="7" pos="32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9900"/>
    <a:srgbClr val="FF9933"/>
    <a:srgbClr val="FFCC66"/>
    <a:srgbClr val="FFFF99"/>
    <a:srgbClr val="FFFFCC"/>
    <a:srgbClr val="FF99CC"/>
    <a:srgbClr val="CCCC00"/>
    <a:srgbClr val="9933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100" autoAdjust="0"/>
    <p:restoredTop sz="89620" autoAdjust="0"/>
  </p:normalViewPr>
  <p:slideViewPr>
    <p:cSldViewPr snapToGrid="0">
      <p:cViewPr varScale="1">
        <p:scale>
          <a:sx n="98" d="100"/>
          <a:sy n="98" d="100"/>
        </p:scale>
        <p:origin x="294" y="78"/>
      </p:cViewPr>
      <p:guideLst>
        <p:guide orient="horz"/>
        <p:guide orient="horz" pos="4088"/>
        <p:guide orient="horz" pos="935"/>
        <p:guide orient="horz" pos="754"/>
        <p:guide pos="3840"/>
        <p:guide pos="7357"/>
        <p:guide pos="323"/>
      </p:guideLst>
    </p:cSldViewPr>
  </p:slideViewPr>
  <p:outlineViewPr>
    <p:cViewPr>
      <p:scale>
        <a:sx n="33" d="100"/>
        <a:sy n="33" d="100"/>
      </p:scale>
      <p:origin x="0" y="-331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0"/>
            <a:ext cx="2946400" cy="496332"/>
          </a:xfrm>
          <a:prstGeom prst="rect">
            <a:avLst/>
          </a:prstGeom>
        </p:spPr>
        <p:txBody>
          <a:bodyPr vert="horz" lIns="91659" tIns="45832" rIns="91659" bIns="4583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92" y="0"/>
            <a:ext cx="2946400" cy="496332"/>
          </a:xfrm>
          <a:prstGeom prst="rect">
            <a:avLst/>
          </a:prstGeom>
        </p:spPr>
        <p:txBody>
          <a:bodyPr vert="horz" lIns="91659" tIns="45832" rIns="91659" bIns="45832" rtlCol="0"/>
          <a:lstStyle>
            <a:lvl1pPr algn="r">
              <a:defRPr sz="1200"/>
            </a:lvl1pPr>
          </a:lstStyle>
          <a:p>
            <a:fld id="{4522B31F-EA4F-48CF-81C7-034EF0DE6385}" type="datetimeFigureOut">
              <a:rPr lang="ko-KR" altLang="en-US" smtClean="0"/>
              <a:pPr/>
              <a:t>2025-12-22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5" y="9428712"/>
            <a:ext cx="2946400" cy="496332"/>
          </a:xfrm>
          <a:prstGeom prst="rect">
            <a:avLst/>
          </a:prstGeom>
        </p:spPr>
        <p:txBody>
          <a:bodyPr vert="horz" lIns="91659" tIns="45832" rIns="91659" bIns="4583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92" y="9428712"/>
            <a:ext cx="2946400" cy="496332"/>
          </a:xfrm>
          <a:prstGeom prst="rect">
            <a:avLst/>
          </a:prstGeom>
        </p:spPr>
        <p:txBody>
          <a:bodyPr vert="horz" lIns="91659" tIns="45832" rIns="91659" bIns="45832" rtlCol="0" anchor="b"/>
          <a:lstStyle>
            <a:lvl1pPr algn="r">
              <a:defRPr sz="1200"/>
            </a:lvl1pPr>
          </a:lstStyle>
          <a:p>
            <a:fld id="{8B260A2D-403C-4EE7-8C82-051E2C57640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0476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2945659" cy="496332"/>
          </a:xfrm>
          <a:prstGeom prst="rect">
            <a:avLst/>
          </a:prstGeom>
        </p:spPr>
        <p:txBody>
          <a:bodyPr vert="horz" lIns="95464" tIns="47733" rIns="95464" bIns="4773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7" y="1"/>
            <a:ext cx="2945659" cy="496332"/>
          </a:xfrm>
          <a:prstGeom prst="rect">
            <a:avLst/>
          </a:prstGeom>
        </p:spPr>
        <p:txBody>
          <a:bodyPr vert="horz" lIns="95464" tIns="47733" rIns="95464" bIns="47733" rtlCol="0"/>
          <a:lstStyle>
            <a:lvl1pPr algn="r">
              <a:defRPr sz="1200"/>
            </a:lvl1pPr>
          </a:lstStyle>
          <a:p>
            <a:fld id="{A0789188-4D18-4B3A-8D80-698D3ED944E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464" tIns="47733" rIns="95464" bIns="47733" rtlCol="0" anchor="ctr"/>
          <a:lstStyle/>
          <a:p>
            <a:endParaRPr 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155"/>
            <a:ext cx="5438140" cy="4466987"/>
          </a:xfrm>
          <a:prstGeom prst="rect">
            <a:avLst/>
          </a:prstGeom>
        </p:spPr>
        <p:txBody>
          <a:bodyPr vert="horz" lIns="95464" tIns="47733" rIns="95464" bIns="47733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5" y="9428586"/>
            <a:ext cx="2945659" cy="496332"/>
          </a:xfrm>
          <a:prstGeom prst="rect">
            <a:avLst/>
          </a:prstGeom>
        </p:spPr>
        <p:txBody>
          <a:bodyPr vert="horz" lIns="95464" tIns="47733" rIns="95464" bIns="4773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7" y="9428586"/>
            <a:ext cx="2945659" cy="496332"/>
          </a:xfrm>
          <a:prstGeom prst="rect">
            <a:avLst/>
          </a:prstGeom>
        </p:spPr>
        <p:txBody>
          <a:bodyPr vert="horz" lIns="95464" tIns="47733" rIns="95464" bIns="47733" rtlCol="0" anchor="b"/>
          <a:lstStyle>
            <a:lvl1pPr algn="r">
              <a:defRPr sz="1200"/>
            </a:lvl1pPr>
          </a:lstStyle>
          <a:p>
            <a:fld id="{D16B6CA8-27C3-4CF7-8F81-A8AB068775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508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B701F160-CF4D-4C5D-A521-814E082B8348}" type="datetime1">
              <a:rPr lang="en-US" altLang="ko-KR" smtClean="0"/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9309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4E943-58E0-406D-8E05-C564092D2B5C}" type="datetime1">
              <a:rPr lang="en-US" altLang="ko-KR" smtClean="0"/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805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FB88-ECE1-4E48-AC33-8416049B5746}" type="datetime1">
              <a:rPr lang="en-US" altLang="ko-KR" smtClean="0"/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1217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D6F68-2D3E-4861-8E87-0E7287B2EED7}" type="datetime1">
              <a:rPr lang="en-US" altLang="ko-KR" smtClean="0"/>
              <a:t>12/22/2025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0798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8D12D-D155-42F1-A2BD-CF8B84AECAAB}" type="datetime1">
              <a:rPr lang="en-US" altLang="ko-KR" smtClean="0"/>
              <a:t>12/22/2025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1938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620D2-DE48-432C-95F8-1B48399E768D}" type="datetime1">
              <a:rPr lang="en-US" altLang="ko-KR" smtClean="0"/>
              <a:t>12/22/2025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851586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12/22/2025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059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89E89-24B2-4DC9-9E34-718D1200568E}" type="datetime1">
              <a:rPr lang="en-US" altLang="ko-KR" smtClean="0"/>
              <a:t>12/22/2025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991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D3442-1E98-4AEC-AA5A-1755A60CECBC}" type="datetime1">
              <a:rPr lang="en-US" altLang="ko-KR" smtClean="0"/>
              <a:t>12/22/2025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29B06-CF2A-459A-8CBC-F18C1D67D2BB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1159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7D676-58BC-47A2-82A2-7EDE8F298211}" type="datetime1">
              <a:rPr lang="en-US" altLang="ko-KR" smtClean="0"/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395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7DFA1-AC7B-4493-AA94-368A78C11118}" type="datetime1">
              <a:rPr lang="en-US" altLang="ko-KR" smtClean="0"/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65295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96126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bg>
      <p:bgPr>
        <a:pattFill prst="pct30">
          <a:fgClr>
            <a:srgbClr val="81674B"/>
          </a:fgClr>
          <a:bgClr>
            <a:srgbClr val="5C3D1A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3E9620D2-DE48-432C-95F8-1B48399E768D}" type="datetime1">
              <a:rPr lang="en-US" altLang="ko-KR" smtClean="0"/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7270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63" r:id="rId12"/>
    <p:sldLayoutId id="2147483656" r:id="rId13"/>
  </p:sldLayoutIdLst>
  <p:hf hdr="0" ftr="0" dt="0"/>
  <p:txStyles>
    <p:titleStyle>
      <a:lvl1pPr algn="l" defTabSz="914400" rtl="0" eaLnBrk="1" latinLnBrk="1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451025" y="1790100"/>
            <a:ext cx="7648486" cy="5408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676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5099" y="541754"/>
            <a:ext cx="118580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수도권광역상수도</a:t>
            </a:r>
            <a:r>
              <a:rPr lang="en-US" altLang="ko-KR" sz="36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(Ⅰ</a:t>
            </a:r>
            <a:r>
              <a:rPr lang="ko-KR" altLang="en-US" sz="36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단계</a:t>
            </a:r>
            <a:r>
              <a:rPr lang="en-US" altLang="ko-KR" sz="36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) </a:t>
            </a:r>
            <a:r>
              <a:rPr lang="ko-KR" altLang="en-US" sz="36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잠원동구간 </a:t>
            </a:r>
            <a:r>
              <a:rPr lang="ko-KR" altLang="en-US" sz="36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관로</a:t>
            </a:r>
            <a:r>
              <a:rPr lang="ko-KR" altLang="en-US" sz="36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이설사업</a:t>
            </a:r>
            <a:r>
              <a:rPr lang="en-US" altLang="ko-KR" sz="36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(2</a:t>
            </a:r>
            <a:r>
              <a:rPr lang="ko-KR" altLang="en-US" sz="36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차</a:t>
            </a:r>
            <a:r>
              <a:rPr lang="en-US" altLang="ko-KR" sz="36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</a:p>
          <a:p>
            <a:pPr algn="ctr"/>
            <a:r>
              <a:rPr lang="ko-KR" altLang="en-US" sz="36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사업 제안서 발표자료</a:t>
            </a:r>
            <a:endParaRPr lang="en-US" altLang="ko-KR" sz="36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66076" y="1910774"/>
            <a:ext cx="9789577" cy="33686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작성유의사항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</a:t>
            </a:r>
          </a:p>
          <a:p>
            <a:pPr algn="ctr"/>
            <a:endParaRPr lang="en-US" altLang="ko-KR" sz="6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심사대상으로 </a:t>
            </a:r>
            <a:r>
              <a:rPr lang="ko-KR" altLang="en-US" sz="16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선정시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공법</a:t>
            </a: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자재</a:t>
            </a: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대한 발표는 제안사가 발표</a:t>
            </a:r>
            <a:endParaRPr lang="en-US" altLang="ko-KR" sz="16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2. 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발표시간은 </a:t>
            </a: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10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분이므로 이를 고려하여 분량을 표지</a:t>
            </a: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목차  등 포함 최대 </a:t>
            </a: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22page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 작성</a:t>
            </a:r>
            <a:endParaRPr lang="en-US" altLang="ko-KR" sz="16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ea typeface="나눔바른고딕" panose="020B0603020101020101" pitchFamily="50" charset="-127"/>
              </a:rPr>
              <a:t>   * </a:t>
            </a:r>
            <a:r>
              <a:rPr lang="ko-KR" altLang="en-US" sz="1400" dirty="0">
                <a:ea typeface="나눔바른고딕" panose="020B0603020101020101" pitchFamily="50" charset="-127"/>
              </a:rPr>
              <a:t>발표시간 초과 시 즉각 발표 중지 조치 예정</a:t>
            </a:r>
            <a:r>
              <a:rPr lang="en-US" altLang="ko-KR" sz="1400" dirty="0">
                <a:ea typeface="나눔바른고딕" panose="020B0603020101020101" pitchFamily="50" charset="-127"/>
              </a:rPr>
              <a:t>, </a:t>
            </a:r>
            <a:r>
              <a:rPr lang="ko-KR" altLang="en-US" sz="1400" dirty="0">
                <a:ea typeface="나눔바른고딕" panose="020B0603020101020101" pitchFamily="50" charset="-127"/>
              </a:rPr>
              <a:t>내용별 지정분량 초과 시 감점 예정 </a:t>
            </a:r>
            <a:r>
              <a:rPr lang="en-US" altLang="ko-KR" sz="1400" dirty="0">
                <a:ea typeface="나눔바른고딕" panose="020B0603020101020101" pitchFamily="50" charset="-127"/>
              </a:rPr>
              <a:t>(</a:t>
            </a:r>
            <a:r>
              <a:rPr lang="ko-KR" altLang="en-US" sz="1400" dirty="0">
                <a:ea typeface="나눔바른고딕" panose="020B0603020101020101" pitchFamily="50" charset="-127"/>
              </a:rPr>
              <a:t>쪽당</a:t>
            </a:r>
            <a:r>
              <a:rPr lang="en-US" altLang="ko-KR" sz="1400" dirty="0">
                <a:ea typeface="나눔바른고딕" panose="020B0603020101020101" pitchFamily="50" charset="-127"/>
              </a:rPr>
              <a:t>0.2</a:t>
            </a:r>
            <a:r>
              <a:rPr lang="ko-KR" altLang="en-US" sz="1400" dirty="0">
                <a:ea typeface="나눔바른고딕" panose="020B0603020101020101" pitchFamily="50" charset="-127"/>
              </a:rPr>
              <a:t>점</a:t>
            </a:r>
            <a:r>
              <a:rPr lang="en-US" altLang="ko-KR" sz="1400" dirty="0">
                <a:ea typeface="나눔바른고딕" panose="020B0603020101020101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3. 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주요 목차는 반드시 준수하고</a:t>
            </a: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세부내용은 기술평가 항목 및 평가기준을 참고하여 작성</a:t>
            </a:r>
            <a:endParaRPr lang="en-US" altLang="ko-KR" sz="16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* </a:t>
            </a: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평가항목에 해당하는 내용 누락 시 해당항목에 대하여 점수 </a:t>
            </a:r>
            <a:r>
              <a:rPr lang="ko-KR" altLang="en-US" sz="14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미부여</a:t>
            </a: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될 수 있음</a:t>
            </a:r>
            <a:endParaRPr lang="en-US" altLang="ko-KR" sz="1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4. </a:t>
            </a: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신기술 및 특허번호</a:t>
            </a:r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4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공법명</a:t>
            </a: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기재 금지</a:t>
            </a:r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기업명</a:t>
            </a:r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성명 등 발표기업 식별가능한 사항 표기 금지</a:t>
            </a:r>
            <a:endParaRPr lang="en-US" altLang="ko-KR" sz="1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5. 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제공된 </a:t>
            </a: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PPT 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양식</a:t>
            </a: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배경포함</a:t>
            </a: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외 인위적 변경</a:t>
            </a: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금지</a:t>
            </a:r>
            <a:endParaRPr lang="en-US" altLang="ko-KR" sz="16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6. 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부적절한 자료는 사업</a:t>
            </a: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설계</a:t>
            </a: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부서에서 참여업체에 통보 후 삭제 등 필요한 조치 예정</a:t>
            </a:r>
            <a:endParaRPr lang="en-US" altLang="ko-KR" sz="10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133525" y="5708863"/>
            <a:ext cx="16546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2026. 00.</a:t>
            </a:r>
            <a:endParaRPr lang="ko-KR" altLang="en-US" sz="24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2988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1" r="-401"/>
          <a:stretch/>
        </p:blipFill>
        <p:spPr>
          <a:xfrm rot="10800000">
            <a:off x="0" y="-1"/>
            <a:ext cx="12192000" cy="6858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6274" y="475880"/>
            <a:ext cx="115857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8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&lt; </a:t>
            </a:r>
            <a:r>
              <a:rPr lang="ko-KR" altLang="en-US" sz="3508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목    차 </a:t>
            </a:r>
            <a:r>
              <a:rPr lang="en-US" altLang="ko-KR" sz="3508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&gt;</a:t>
            </a:r>
            <a:endParaRPr lang="en-US" altLang="ko-KR" sz="3508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9778" y="1772489"/>
            <a:ext cx="67119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400" b="1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Ⅰ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공법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자재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개요 및 특징 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최대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3p)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9674" y="2478487"/>
            <a:ext cx="67119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400" b="1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Ⅱ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  <a:r>
              <a:rPr lang="ko-KR" altLang="en-US" sz="24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시공성</a:t>
            </a:r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최대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5p)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9777" y="3879591"/>
            <a:ext cx="7234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400" b="1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Ⅳ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안전성 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최대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3p)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9673" y="3179039"/>
            <a:ext cx="7234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400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Ⅲ. </a:t>
            </a:r>
            <a:r>
              <a:rPr lang="ko-KR" altLang="en-US" sz="24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품질성</a:t>
            </a:r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최대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4p)</a:t>
            </a:r>
            <a:endParaRPr kumimoji="1" lang="en-US" altLang="ko-KR" sz="2400" dirty="0">
              <a:ln w="13500">
                <a:solidFill>
                  <a:schemeClr val="accent1">
                    <a:shade val="2500"/>
                    <a:alpha val="6500"/>
                  </a:schemeClr>
                </a:solidFill>
                <a:prstDash val="solid"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F97E98-0D60-425F-9C24-562A2BBA6079}"/>
              </a:ext>
            </a:extLst>
          </p:cNvPr>
          <p:cNvSpPr txBox="1"/>
          <p:nvPr/>
        </p:nvSpPr>
        <p:spPr>
          <a:xfrm>
            <a:off x="189673" y="4585589"/>
            <a:ext cx="7234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400" b="1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Ⅴ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  <a:r>
              <a:rPr lang="ko-KR" altLang="en-US" sz="24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환경성</a:t>
            </a:r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최대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2p)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7B9B48-6A9F-413F-8B13-7B8294D4F44B}"/>
              </a:ext>
            </a:extLst>
          </p:cNvPr>
          <p:cNvSpPr txBox="1"/>
          <p:nvPr/>
        </p:nvSpPr>
        <p:spPr>
          <a:xfrm>
            <a:off x="189673" y="5286141"/>
            <a:ext cx="7234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Ⅵ. </a:t>
            </a:r>
            <a:r>
              <a:rPr kumimoji="1" lang="ko-KR" altLang="en-US" sz="2400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유지관리성 </a:t>
            </a:r>
            <a:r>
              <a:rPr kumimoji="1" lang="en-US" altLang="ko-KR" sz="2400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kumimoji="1" lang="ko-KR" altLang="en-US" sz="2400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최대</a:t>
            </a:r>
            <a:r>
              <a:rPr kumimoji="1" lang="en-US" altLang="ko-KR" sz="2400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2p)</a:t>
            </a:r>
            <a:endParaRPr lang="ko-KR" altLang="en-US" sz="24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96878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FBE2108-99FD-4C6E-8CF1-0D50FAB81DFB}"/>
              </a:ext>
            </a:extLst>
          </p:cNvPr>
          <p:cNvGrpSpPr/>
          <p:nvPr/>
        </p:nvGrpSpPr>
        <p:grpSpPr>
          <a:xfrm>
            <a:off x="0" y="182747"/>
            <a:ext cx="12192000" cy="531751"/>
            <a:chOff x="1524000" y="182747"/>
            <a:chExt cx="9144000" cy="531751"/>
          </a:xfrm>
        </p:grpSpPr>
        <p:cxnSp>
          <p:nvCxnSpPr>
            <p:cNvPr id="14" name="직선 연결선 13"/>
            <p:cNvCxnSpPr/>
            <p:nvPr/>
          </p:nvCxnSpPr>
          <p:spPr>
            <a:xfrm>
              <a:off x="1524000" y="705705"/>
              <a:ext cx="9144000" cy="0"/>
            </a:xfrm>
            <a:prstGeom prst="line">
              <a:avLst/>
            </a:prstGeom>
            <a:ln w="12700">
              <a:solidFill>
                <a:srgbClr val="101381">
                  <a:alpha val="4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직사각형 14"/>
            <p:cNvSpPr/>
            <p:nvPr/>
          </p:nvSpPr>
          <p:spPr>
            <a:xfrm>
              <a:off x="1845454" y="182747"/>
              <a:ext cx="508938" cy="53175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ko-KR" sz="2215" b="1" dirty="0">
                  <a:ln w="13500">
                    <a:solidFill>
                      <a:schemeClr val="accent1">
                        <a:shade val="2500"/>
                        <a:alpha val="65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Ⅰ</a:t>
              </a:r>
              <a:endParaRPr lang="ko-KR" altLang="en-US" sz="2215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1524000" y="182747"/>
              <a:ext cx="265846" cy="53175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477">
                <a:solidFill>
                  <a:prstClr val="whit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432334" y="212350"/>
              <a:ext cx="82356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공법</a:t>
              </a:r>
              <a:r>
                <a:rPr lang="en-US" altLang="ko-KR" sz="24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(</a:t>
              </a:r>
              <a:r>
                <a:rPr lang="ko-KR" altLang="en-US" sz="24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자재</a:t>
              </a:r>
              <a:r>
                <a:rPr lang="en-US" altLang="ko-KR" sz="24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)</a:t>
              </a:r>
              <a:r>
                <a:rPr lang="ko-KR" altLang="en-US" sz="24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개요 및 특징</a:t>
              </a:r>
              <a:endParaRPr lang="ko-KR" altLang="en-US" sz="20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86195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FBE2108-99FD-4C6E-8CF1-0D50FAB81DFB}"/>
              </a:ext>
            </a:extLst>
          </p:cNvPr>
          <p:cNvGrpSpPr/>
          <p:nvPr/>
        </p:nvGrpSpPr>
        <p:grpSpPr>
          <a:xfrm>
            <a:off x="0" y="182747"/>
            <a:ext cx="12192000" cy="531751"/>
            <a:chOff x="1524000" y="182747"/>
            <a:chExt cx="9144000" cy="531751"/>
          </a:xfrm>
        </p:grpSpPr>
        <p:cxnSp>
          <p:nvCxnSpPr>
            <p:cNvPr id="14" name="직선 연결선 13"/>
            <p:cNvCxnSpPr/>
            <p:nvPr/>
          </p:nvCxnSpPr>
          <p:spPr>
            <a:xfrm>
              <a:off x="1524000" y="705705"/>
              <a:ext cx="9144000" cy="0"/>
            </a:xfrm>
            <a:prstGeom prst="line">
              <a:avLst/>
            </a:prstGeom>
            <a:ln w="12700">
              <a:solidFill>
                <a:srgbClr val="101381">
                  <a:alpha val="4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직사각형 14"/>
            <p:cNvSpPr/>
            <p:nvPr/>
          </p:nvSpPr>
          <p:spPr>
            <a:xfrm>
              <a:off x="1845454" y="182747"/>
              <a:ext cx="508938" cy="53175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ko-KR" sz="2215" b="1" dirty="0">
                  <a:ln w="13500">
                    <a:solidFill>
                      <a:schemeClr val="accent1">
                        <a:shade val="2500"/>
                        <a:alpha val="65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Ⅰ</a:t>
              </a:r>
              <a:endParaRPr lang="ko-KR" altLang="en-US" sz="2215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1524000" y="182747"/>
              <a:ext cx="265846" cy="53175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477">
                <a:solidFill>
                  <a:prstClr val="whit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432334" y="212350"/>
              <a:ext cx="82356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공법</a:t>
              </a:r>
              <a:r>
                <a:rPr lang="en-US" altLang="ko-KR" sz="24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(</a:t>
              </a:r>
              <a:r>
                <a:rPr lang="ko-KR" altLang="en-US" sz="24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자재</a:t>
              </a:r>
              <a:r>
                <a:rPr lang="en-US" altLang="ko-KR" sz="24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)</a:t>
              </a:r>
              <a:r>
                <a:rPr lang="ko-KR" altLang="en-US" sz="24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개요 및 특징</a:t>
              </a:r>
              <a:endParaRPr lang="ko-KR" altLang="en-US" sz="20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25255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FBE2108-99FD-4C6E-8CF1-0D50FAB81DFB}"/>
              </a:ext>
            </a:extLst>
          </p:cNvPr>
          <p:cNvGrpSpPr/>
          <p:nvPr/>
        </p:nvGrpSpPr>
        <p:grpSpPr>
          <a:xfrm>
            <a:off x="0" y="182747"/>
            <a:ext cx="12192000" cy="531751"/>
            <a:chOff x="1524000" y="182747"/>
            <a:chExt cx="9144000" cy="531751"/>
          </a:xfrm>
        </p:grpSpPr>
        <p:cxnSp>
          <p:nvCxnSpPr>
            <p:cNvPr id="14" name="직선 연결선 13"/>
            <p:cNvCxnSpPr/>
            <p:nvPr/>
          </p:nvCxnSpPr>
          <p:spPr>
            <a:xfrm>
              <a:off x="1524000" y="705705"/>
              <a:ext cx="9144000" cy="0"/>
            </a:xfrm>
            <a:prstGeom prst="line">
              <a:avLst/>
            </a:prstGeom>
            <a:ln w="12700">
              <a:solidFill>
                <a:srgbClr val="101381">
                  <a:alpha val="4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직사각형 14"/>
            <p:cNvSpPr/>
            <p:nvPr/>
          </p:nvSpPr>
          <p:spPr>
            <a:xfrm>
              <a:off x="1845454" y="182747"/>
              <a:ext cx="508938" cy="53175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ko-KR" sz="2215" b="1" dirty="0">
                  <a:ln w="13500">
                    <a:solidFill>
                      <a:schemeClr val="accent1">
                        <a:shade val="2500"/>
                        <a:alpha val="65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Ⅰ</a:t>
              </a:r>
              <a:endParaRPr lang="ko-KR" altLang="en-US" sz="2215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1524000" y="182747"/>
              <a:ext cx="265846" cy="53175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477">
                <a:solidFill>
                  <a:prstClr val="whit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432334" y="212350"/>
              <a:ext cx="82356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공법</a:t>
              </a:r>
              <a:r>
                <a:rPr lang="en-US" altLang="ko-KR" sz="24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(</a:t>
              </a:r>
              <a:r>
                <a:rPr lang="ko-KR" altLang="en-US" sz="24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자재</a:t>
              </a:r>
              <a:r>
                <a:rPr lang="en-US" altLang="ko-KR" sz="24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)</a:t>
              </a:r>
              <a:r>
                <a:rPr lang="ko-KR" altLang="en-US" sz="24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개요 및 특징</a:t>
              </a:r>
              <a:endParaRPr lang="ko-KR" altLang="en-US" sz="20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59110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FBE2108-99FD-4C6E-8CF1-0D50FAB81DFB}"/>
              </a:ext>
            </a:extLst>
          </p:cNvPr>
          <p:cNvGrpSpPr/>
          <p:nvPr/>
        </p:nvGrpSpPr>
        <p:grpSpPr>
          <a:xfrm>
            <a:off x="0" y="182747"/>
            <a:ext cx="12192000" cy="531751"/>
            <a:chOff x="1524000" y="182747"/>
            <a:chExt cx="9144000" cy="531751"/>
          </a:xfrm>
        </p:grpSpPr>
        <p:cxnSp>
          <p:nvCxnSpPr>
            <p:cNvPr id="14" name="직선 연결선 13"/>
            <p:cNvCxnSpPr/>
            <p:nvPr/>
          </p:nvCxnSpPr>
          <p:spPr>
            <a:xfrm>
              <a:off x="1524000" y="705705"/>
              <a:ext cx="9144000" cy="0"/>
            </a:xfrm>
            <a:prstGeom prst="line">
              <a:avLst/>
            </a:prstGeom>
            <a:ln w="12700">
              <a:solidFill>
                <a:srgbClr val="101381">
                  <a:alpha val="4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직사각형 14"/>
            <p:cNvSpPr/>
            <p:nvPr/>
          </p:nvSpPr>
          <p:spPr>
            <a:xfrm>
              <a:off x="1845454" y="182747"/>
              <a:ext cx="508938" cy="53175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20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Ⅱ</a:t>
              </a:r>
              <a:endParaRPr lang="ko-KR" altLang="en-US" sz="2215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1524000" y="182747"/>
              <a:ext cx="265846" cy="53175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477">
                <a:solidFill>
                  <a:prstClr val="whit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432334" y="212350"/>
              <a:ext cx="82356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 err="1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시공성</a:t>
              </a:r>
              <a:endPara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89177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FBE2108-99FD-4C6E-8CF1-0D50FAB81DFB}"/>
              </a:ext>
            </a:extLst>
          </p:cNvPr>
          <p:cNvGrpSpPr/>
          <p:nvPr/>
        </p:nvGrpSpPr>
        <p:grpSpPr>
          <a:xfrm>
            <a:off x="0" y="182747"/>
            <a:ext cx="12192000" cy="531751"/>
            <a:chOff x="1524000" y="182747"/>
            <a:chExt cx="9144000" cy="531751"/>
          </a:xfrm>
        </p:grpSpPr>
        <p:cxnSp>
          <p:nvCxnSpPr>
            <p:cNvPr id="14" name="직선 연결선 13"/>
            <p:cNvCxnSpPr/>
            <p:nvPr/>
          </p:nvCxnSpPr>
          <p:spPr>
            <a:xfrm>
              <a:off x="1524000" y="705705"/>
              <a:ext cx="9144000" cy="0"/>
            </a:xfrm>
            <a:prstGeom prst="line">
              <a:avLst/>
            </a:prstGeom>
            <a:ln w="12700">
              <a:solidFill>
                <a:srgbClr val="101381">
                  <a:alpha val="4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직사각형 14"/>
            <p:cNvSpPr/>
            <p:nvPr/>
          </p:nvSpPr>
          <p:spPr>
            <a:xfrm>
              <a:off x="1845454" y="182747"/>
              <a:ext cx="508938" cy="53175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20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Ⅱ</a:t>
              </a:r>
              <a:endParaRPr lang="ko-KR" altLang="en-US" sz="2215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1524000" y="182747"/>
              <a:ext cx="265846" cy="53175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477">
                <a:solidFill>
                  <a:prstClr val="whit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432334" y="212350"/>
              <a:ext cx="82356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 err="1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시공성</a:t>
              </a:r>
              <a:endPara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00365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FBE2108-99FD-4C6E-8CF1-0D50FAB81DFB}"/>
              </a:ext>
            </a:extLst>
          </p:cNvPr>
          <p:cNvGrpSpPr/>
          <p:nvPr/>
        </p:nvGrpSpPr>
        <p:grpSpPr>
          <a:xfrm>
            <a:off x="0" y="182747"/>
            <a:ext cx="12192000" cy="531751"/>
            <a:chOff x="1524000" y="182747"/>
            <a:chExt cx="9144000" cy="531751"/>
          </a:xfrm>
        </p:grpSpPr>
        <p:cxnSp>
          <p:nvCxnSpPr>
            <p:cNvPr id="14" name="직선 연결선 13"/>
            <p:cNvCxnSpPr/>
            <p:nvPr/>
          </p:nvCxnSpPr>
          <p:spPr>
            <a:xfrm>
              <a:off x="1524000" y="705705"/>
              <a:ext cx="9144000" cy="0"/>
            </a:xfrm>
            <a:prstGeom prst="line">
              <a:avLst/>
            </a:prstGeom>
            <a:ln w="12700">
              <a:solidFill>
                <a:srgbClr val="101381">
                  <a:alpha val="4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직사각형 14"/>
            <p:cNvSpPr/>
            <p:nvPr/>
          </p:nvSpPr>
          <p:spPr>
            <a:xfrm>
              <a:off x="1845454" y="182747"/>
              <a:ext cx="508938" cy="53175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20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Ⅱ</a:t>
              </a:r>
              <a:endParaRPr lang="ko-KR" altLang="en-US" sz="2215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1524000" y="182747"/>
              <a:ext cx="265846" cy="53175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477">
                <a:solidFill>
                  <a:prstClr val="whit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432334" y="212350"/>
              <a:ext cx="82356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 err="1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시공성</a:t>
              </a:r>
              <a:endPara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70618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FBE2108-99FD-4C6E-8CF1-0D50FAB81DFB}"/>
              </a:ext>
            </a:extLst>
          </p:cNvPr>
          <p:cNvGrpSpPr/>
          <p:nvPr/>
        </p:nvGrpSpPr>
        <p:grpSpPr>
          <a:xfrm>
            <a:off x="0" y="182747"/>
            <a:ext cx="12192000" cy="531751"/>
            <a:chOff x="1524000" y="182747"/>
            <a:chExt cx="9144000" cy="531751"/>
          </a:xfrm>
        </p:grpSpPr>
        <p:cxnSp>
          <p:nvCxnSpPr>
            <p:cNvPr id="14" name="직선 연결선 13"/>
            <p:cNvCxnSpPr/>
            <p:nvPr/>
          </p:nvCxnSpPr>
          <p:spPr>
            <a:xfrm>
              <a:off x="1524000" y="705705"/>
              <a:ext cx="9144000" cy="0"/>
            </a:xfrm>
            <a:prstGeom prst="line">
              <a:avLst/>
            </a:prstGeom>
            <a:ln w="12700">
              <a:solidFill>
                <a:srgbClr val="101381">
                  <a:alpha val="4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직사각형 14"/>
            <p:cNvSpPr/>
            <p:nvPr/>
          </p:nvSpPr>
          <p:spPr>
            <a:xfrm>
              <a:off x="1845454" y="182747"/>
              <a:ext cx="508938" cy="53175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20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Ⅱ</a:t>
              </a:r>
              <a:endParaRPr lang="ko-KR" altLang="en-US" sz="2215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1524000" y="182747"/>
              <a:ext cx="265846" cy="53175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477">
                <a:solidFill>
                  <a:prstClr val="whit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432334" y="212350"/>
              <a:ext cx="82356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 err="1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시공성</a:t>
              </a:r>
              <a:endPara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42351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FBE2108-99FD-4C6E-8CF1-0D50FAB81DFB}"/>
              </a:ext>
            </a:extLst>
          </p:cNvPr>
          <p:cNvGrpSpPr/>
          <p:nvPr/>
        </p:nvGrpSpPr>
        <p:grpSpPr>
          <a:xfrm>
            <a:off x="0" y="182747"/>
            <a:ext cx="12192000" cy="531751"/>
            <a:chOff x="1524000" y="182747"/>
            <a:chExt cx="9144000" cy="531751"/>
          </a:xfrm>
        </p:grpSpPr>
        <p:cxnSp>
          <p:nvCxnSpPr>
            <p:cNvPr id="14" name="직선 연결선 13"/>
            <p:cNvCxnSpPr/>
            <p:nvPr/>
          </p:nvCxnSpPr>
          <p:spPr>
            <a:xfrm>
              <a:off x="1524000" y="705705"/>
              <a:ext cx="9144000" cy="0"/>
            </a:xfrm>
            <a:prstGeom prst="line">
              <a:avLst/>
            </a:prstGeom>
            <a:ln w="12700">
              <a:solidFill>
                <a:srgbClr val="101381">
                  <a:alpha val="4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직사각형 14"/>
            <p:cNvSpPr/>
            <p:nvPr/>
          </p:nvSpPr>
          <p:spPr>
            <a:xfrm>
              <a:off x="1845454" y="182747"/>
              <a:ext cx="508938" cy="53175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20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Ⅱ</a:t>
              </a:r>
              <a:endParaRPr lang="ko-KR" altLang="en-US" sz="2215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1524000" y="182747"/>
              <a:ext cx="265846" cy="53175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477">
                <a:solidFill>
                  <a:prstClr val="whit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432334" y="212350"/>
              <a:ext cx="82356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 err="1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시공성</a:t>
              </a:r>
              <a:endPara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880548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FBE2108-99FD-4C6E-8CF1-0D50FAB81DFB}"/>
              </a:ext>
            </a:extLst>
          </p:cNvPr>
          <p:cNvGrpSpPr/>
          <p:nvPr/>
        </p:nvGrpSpPr>
        <p:grpSpPr>
          <a:xfrm>
            <a:off x="0" y="182747"/>
            <a:ext cx="12192000" cy="531751"/>
            <a:chOff x="1524000" y="182747"/>
            <a:chExt cx="9144000" cy="531751"/>
          </a:xfrm>
        </p:grpSpPr>
        <p:cxnSp>
          <p:nvCxnSpPr>
            <p:cNvPr id="14" name="직선 연결선 13"/>
            <p:cNvCxnSpPr/>
            <p:nvPr/>
          </p:nvCxnSpPr>
          <p:spPr>
            <a:xfrm>
              <a:off x="1524000" y="705705"/>
              <a:ext cx="9144000" cy="0"/>
            </a:xfrm>
            <a:prstGeom prst="line">
              <a:avLst/>
            </a:prstGeom>
            <a:ln w="12700">
              <a:solidFill>
                <a:srgbClr val="101381">
                  <a:alpha val="4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직사각형 14"/>
            <p:cNvSpPr/>
            <p:nvPr/>
          </p:nvSpPr>
          <p:spPr>
            <a:xfrm>
              <a:off x="1845454" y="182747"/>
              <a:ext cx="508938" cy="53175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ko-KR" sz="2215" b="1" dirty="0">
                  <a:ln w="13500">
                    <a:solidFill>
                      <a:schemeClr val="accent1">
                        <a:shade val="2500"/>
                        <a:alpha val="65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Ⅲ</a:t>
              </a:r>
              <a:endParaRPr lang="ko-KR" altLang="en-US" sz="2215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1524000" y="182747"/>
              <a:ext cx="265846" cy="53175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477">
                <a:solidFill>
                  <a:prstClr val="whit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432334" y="212350"/>
              <a:ext cx="82356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 err="1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품질성</a:t>
              </a:r>
              <a:endParaRPr lang="ko-KR" altLang="en-US" sz="20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321376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FBE2108-99FD-4C6E-8CF1-0D50FAB81DFB}"/>
              </a:ext>
            </a:extLst>
          </p:cNvPr>
          <p:cNvGrpSpPr/>
          <p:nvPr/>
        </p:nvGrpSpPr>
        <p:grpSpPr>
          <a:xfrm>
            <a:off x="0" y="182747"/>
            <a:ext cx="12192000" cy="531751"/>
            <a:chOff x="1524000" y="182747"/>
            <a:chExt cx="9144000" cy="531751"/>
          </a:xfrm>
        </p:grpSpPr>
        <p:cxnSp>
          <p:nvCxnSpPr>
            <p:cNvPr id="14" name="직선 연결선 13"/>
            <p:cNvCxnSpPr/>
            <p:nvPr/>
          </p:nvCxnSpPr>
          <p:spPr>
            <a:xfrm>
              <a:off x="1524000" y="705705"/>
              <a:ext cx="9144000" cy="0"/>
            </a:xfrm>
            <a:prstGeom prst="line">
              <a:avLst/>
            </a:prstGeom>
            <a:ln w="12700">
              <a:solidFill>
                <a:srgbClr val="101381">
                  <a:alpha val="4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직사각형 14"/>
            <p:cNvSpPr/>
            <p:nvPr/>
          </p:nvSpPr>
          <p:spPr>
            <a:xfrm>
              <a:off x="1845454" y="182747"/>
              <a:ext cx="508938" cy="53175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ko-KR" sz="2215" b="1" dirty="0">
                  <a:ln w="13500">
                    <a:solidFill>
                      <a:schemeClr val="accent1">
                        <a:shade val="2500"/>
                        <a:alpha val="65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Ⅲ</a:t>
              </a:r>
              <a:endParaRPr lang="ko-KR" altLang="en-US" sz="2215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1524000" y="182747"/>
              <a:ext cx="265846" cy="53175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477">
                <a:solidFill>
                  <a:prstClr val="whit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432334" y="212350"/>
              <a:ext cx="82356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 err="1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품질성</a:t>
              </a:r>
              <a:endParaRPr lang="ko-KR" altLang="en-US" sz="20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78543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FBE2108-99FD-4C6E-8CF1-0D50FAB81DFB}"/>
              </a:ext>
            </a:extLst>
          </p:cNvPr>
          <p:cNvGrpSpPr/>
          <p:nvPr/>
        </p:nvGrpSpPr>
        <p:grpSpPr>
          <a:xfrm>
            <a:off x="0" y="182747"/>
            <a:ext cx="12192000" cy="531751"/>
            <a:chOff x="1524000" y="182747"/>
            <a:chExt cx="9144000" cy="531751"/>
          </a:xfrm>
        </p:grpSpPr>
        <p:cxnSp>
          <p:nvCxnSpPr>
            <p:cNvPr id="14" name="직선 연결선 13"/>
            <p:cNvCxnSpPr/>
            <p:nvPr/>
          </p:nvCxnSpPr>
          <p:spPr>
            <a:xfrm>
              <a:off x="1524000" y="705705"/>
              <a:ext cx="9144000" cy="0"/>
            </a:xfrm>
            <a:prstGeom prst="line">
              <a:avLst/>
            </a:prstGeom>
            <a:ln w="12700">
              <a:solidFill>
                <a:srgbClr val="101381">
                  <a:alpha val="4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직사각형 14"/>
            <p:cNvSpPr/>
            <p:nvPr/>
          </p:nvSpPr>
          <p:spPr>
            <a:xfrm>
              <a:off x="1845454" y="182747"/>
              <a:ext cx="508938" cy="53175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ko-KR" sz="2215" b="1" dirty="0">
                  <a:ln w="13500">
                    <a:solidFill>
                      <a:schemeClr val="accent1">
                        <a:shade val="2500"/>
                        <a:alpha val="65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Ⅲ</a:t>
              </a:r>
              <a:endParaRPr lang="ko-KR" altLang="en-US" sz="2215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1524000" y="182747"/>
              <a:ext cx="265846" cy="53175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477">
                <a:solidFill>
                  <a:prstClr val="whit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432334" y="212350"/>
              <a:ext cx="82356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 err="1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품질성</a:t>
              </a:r>
              <a:endParaRPr lang="ko-KR" altLang="en-US" sz="20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832391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FBE2108-99FD-4C6E-8CF1-0D50FAB81DFB}"/>
              </a:ext>
            </a:extLst>
          </p:cNvPr>
          <p:cNvGrpSpPr/>
          <p:nvPr/>
        </p:nvGrpSpPr>
        <p:grpSpPr>
          <a:xfrm>
            <a:off x="0" y="182747"/>
            <a:ext cx="12192000" cy="531751"/>
            <a:chOff x="1524000" y="182747"/>
            <a:chExt cx="9144000" cy="531751"/>
          </a:xfrm>
        </p:grpSpPr>
        <p:cxnSp>
          <p:nvCxnSpPr>
            <p:cNvPr id="14" name="직선 연결선 13"/>
            <p:cNvCxnSpPr/>
            <p:nvPr/>
          </p:nvCxnSpPr>
          <p:spPr>
            <a:xfrm>
              <a:off x="1524000" y="705705"/>
              <a:ext cx="9144000" cy="0"/>
            </a:xfrm>
            <a:prstGeom prst="line">
              <a:avLst/>
            </a:prstGeom>
            <a:ln w="12700">
              <a:solidFill>
                <a:srgbClr val="101381">
                  <a:alpha val="4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직사각형 14"/>
            <p:cNvSpPr/>
            <p:nvPr/>
          </p:nvSpPr>
          <p:spPr>
            <a:xfrm>
              <a:off x="1845454" y="182747"/>
              <a:ext cx="508938" cy="53175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ko-KR" sz="2215" b="1" dirty="0">
                  <a:ln w="13500">
                    <a:solidFill>
                      <a:schemeClr val="accent1">
                        <a:shade val="2500"/>
                        <a:alpha val="65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Ⅲ</a:t>
              </a:r>
              <a:endParaRPr lang="ko-KR" altLang="en-US" sz="2215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1524000" y="182747"/>
              <a:ext cx="265846" cy="53175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477">
                <a:solidFill>
                  <a:prstClr val="whit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432334" y="212350"/>
              <a:ext cx="82356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 err="1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품질성</a:t>
              </a:r>
              <a:endParaRPr lang="ko-KR" altLang="en-US" sz="20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527243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FBE2108-99FD-4C6E-8CF1-0D50FAB81DFB}"/>
              </a:ext>
            </a:extLst>
          </p:cNvPr>
          <p:cNvGrpSpPr/>
          <p:nvPr/>
        </p:nvGrpSpPr>
        <p:grpSpPr>
          <a:xfrm>
            <a:off x="0" y="182747"/>
            <a:ext cx="12192000" cy="531751"/>
            <a:chOff x="1524000" y="182747"/>
            <a:chExt cx="9144000" cy="531751"/>
          </a:xfrm>
        </p:grpSpPr>
        <p:cxnSp>
          <p:nvCxnSpPr>
            <p:cNvPr id="14" name="직선 연결선 13"/>
            <p:cNvCxnSpPr/>
            <p:nvPr/>
          </p:nvCxnSpPr>
          <p:spPr>
            <a:xfrm>
              <a:off x="1524000" y="705705"/>
              <a:ext cx="9144000" cy="0"/>
            </a:xfrm>
            <a:prstGeom prst="line">
              <a:avLst/>
            </a:prstGeom>
            <a:ln w="12700">
              <a:solidFill>
                <a:srgbClr val="101381">
                  <a:alpha val="4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직사각형 14"/>
            <p:cNvSpPr/>
            <p:nvPr/>
          </p:nvSpPr>
          <p:spPr>
            <a:xfrm>
              <a:off x="1845454" y="182747"/>
              <a:ext cx="508938" cy="53175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2215" dirty="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Ⅳ</a:t>
              </a:r>
              <a:endParaRPr lang="ko-KR" altLang="en-US" sz="2215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1524000" y="182747"/>
              <a:ext cx="265846" cy="53175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477">
                <a:solidFill>
                  <a:prstClr val="whit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432334" y="212350"/>
              <a:ext cx="82356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안정성</a:t>
              </a:r>
              <a:endParaRPr lang="ko-KR" altLang="en-US" sz="20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357352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FBE2108-99FD-4C6E-8CF1-0D50FAB81DFB}"/>
              </a:ext>
            </a:extLst>
          </p:cNvPr>
          <p:cNvGrpSpPr/>
          <p:nvPr/>
        </p:nvGrpSpPr>
        <p:grpSpPr>
          <a:xfrm>
            <a:off x="0" y="182747"/>
            <a:ext cx="12192000" cy="531751"/>
            <a:chOff x="1524000" y="182747"/>
            <a:chExt cx="9144000" cy="531751"/>
          </a:xfrm>
        </p:grpSpPr>
        <p:cxnSp>
          <p:nvCxnSpPr>
            <p:cNvPr id="14" name="직선 연결선 13"/>
            <p:cNvCxnSpPr/>
            <p:nvPr/>
          </p:nvCxnSpPr>
          <p:spPr>
            <a:xfrm>
              <a:off x="1524000" y="705705"/>
              <a:ext cx="9144000" cy="0"/>
            </a:xfrm>
            <a:prstGeom prst="line">
              <a:avLst/>
            </a:prstGeom>
            <a:ln w="12700">
              <a:solidFill>
                <a:srgbClr val="101381">
                  <a:alpha val="4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직사각형 14"/>
            <p:cNvSpPr/>
            <p:nvPr/>
          </p:nvSpPr>
          <p:spPr>
            <a:xfrm>
              <a:off x="1845454" y="182747"/>
              <a:ext cx="508938" cy="53175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2215" dirty="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Ⅳ</a:t>
              </a:r>
              <a:endParaRPr lang="ko-KR" altLang="en-US" sz="2215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1524000" y="182747"/>
              <a:ext cx="265846" cy="53175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477">
                <a:solidFill>
                  <a:prstClr val="whit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432334" y="212350"/>
              <a:ext cx="82356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안정성</a:t>
              </a:r>
              <a:endParaRPr lang="ko-KR" altLang="en-US" sz="20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904952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FBE2108-99FD-4C6E-8CF1-0D50FAB81DFB}"/>
              </a:ext>
            </a:extLst>
          </p:cNvPr>
          <p:cNvGrpSpPr/>
          <p:nvPr/>
        </p:nvGrpSpPr>
        <p:grpSpPr>
          <a:xfrm>
            <a:off x="0" y="182747"/>
            <a:ext cx="12192000" cy="531751"/>
            <a:chOff x="1524000" y="182747"/>
            <a:chExt cx="9144000" cy="531751"/>
          </a:xfrm>
        </p:grpSpPr>
        <p:cxnSp>
          <p:nvCxnSpPr>
            <p:cNvPr id="14" name="직선 연결선 13"/>
            <p:cNvCxnSpPr/>
            <p:nvPr/>
          </p:nvCxnSpPr>
          <p:spPr>
            <a:xfrm>
              <a:off x="1524000" y="705705"/>
              <a:ext cx="9144000" cy="0"/>
            </a:xfrm>
            <a:prstGeom prst="line">
              <a:avLst/>
            </a:prstGeom>
            <a:ln w="12700">
              <a:solidFill>
                <a:srgbClr val="101381">
                  <a:alpha val="4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직사각형 14"/>
            <p:cNvSpPr/>
            <p:nvPr/>
          </p:nvSpPr>
          <p:spPr>
            <a:xfrm>
              <a:off x="1845454" y="182747"/>
              <a:ext cx="508938" cy="53175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2215" dirty="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Ⅳ</a:t>
              </a:r>
              <a:endParaRPr lang="ko-KR" altLang="en-US" sz="2215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1524000" y="182747"/>
              <a:ext cx="265846" cy="53175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477">
                <a:solidFill>
                  <a:prstClr val="whit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432334" y="212350"/>
              <a:ext cx="82356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안정성</a:t>
              </a:r>
              <a:endParaRPr lang="ko-KR" altLang="en-US" sz="20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705463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FBE2108-99FD-4C6E-8CF1-0D50FAB81DFB}"/>
              </a:ext>
            </a:extLst>
          </p:cNvPr>
          <p:cNvGrpSpPr/>
          <p:nvPr/>
        </p:nvGrpSpPr>
        <p:grpSpPr>
          <a:xfrm>
            <a:off x="0" y="182747"/>
            <a:ext cx="12192000" cy="531751"/>
            <a:chOff x="1524000" y="182747"/>
            <a:chExt cx="9144000" cy="531751"/>
          </a:xfrm>
        </p:grpSpPr>
        <p:cxnSp>
          <p:nvCxnSpPr>
            <p:cNvPr id="14" name="직선 연결선 13"/>
            <p:cNvCxnSpPr/>
            <p:nvPr/>
          </p:nvCxnSpPr>
          <p:spPr>
            <a:xfrm>
              <a:off x="1524000" y="705705"/>
              <a:ext cx="9144000" cy="0"/>
            </a:xfrm>
            <a:prstGeom prst="line">
              <a:avLst/>
            </a:prstGeom>
            <a:ln w="12700">
              <a:solidFill>
                <a:srgbClr val="101381">
                  <a:alpha val="4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직사각형 14"/>
            <p:cNvSpPr/>
            <p:nvPr/>
          </p:nvSpPr>
          <p:spPr>
            <a:xfrm>
              <a:off x="1845454" y="182747"/>
              <a:ext cx="508938" cy="53175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2215" dirty="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Ⅴ</a:t>
              </a:r>
              <a:endParaRPr lang="ko-KR" altLang="en-US" sz="2215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1524000" y="182747"/>
              <a:ext cx="265846" cy="53175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477">
                <a:solidFill>
                  <a:prstClr val="whit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432334" y="212350"/>
              <a:ext cx="82356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 err="1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환경성</a:t>
              </a:r>
              <a:endParaRPr lang="ko-KR" altLang="en-US" sz="20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855418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FBE2108-99FD-4C6E-8CF1-0D50FAB81DFB}"/>
              </a:ext>
            </a:extLst>
          </p:cNvPr>
          <p:cNvGrpSpPr/>
          <p:nvPr/>
        </p:nvGrpSpPr>
        <p:grpSpPr>
          <a:xfrm>
            <a:off x="0" y="182747"/>
            <a:ext cx="12192000" cy="531751"/>
            <a:chOff x="1524000" y="182747"/>
            <a:chExt cx="9144000" cy="531751"/>
          </a:xfrm>
        </p:grpSpPr>
        <p:cxnSp>
          <p:nvCxnSpPr>
            <p:cNvPr id="14" name="직선 연결선 13"/>
            <p:cNvCxnSpPr/>
            <p:nvPr/>
          </p:nvCxnSpPr>
          <p:spPr>
            <a:xfrm>
              <a:off x="1524000" y="705705"/>
              <a:ext cx="9144000" cy="0"/>
            </a:xfrm>
            <a:prstGeom prst="line">
              <a:avLst/>
            </a:prstGeom>
            <a:ln w="12700">
              <a:solidFill>
                <a:srgbClr val="101381">
                  <a:alpha val="4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직사각형 14"/>
            <p:cNvSpPr/>
            <p:nvPr/>
          </p:nvSpPr>
          <p:spPr>
            <a:xfrm>
              <a:off x="1845454" y="182747"/>
              <a:ext cx="508938" cy="53175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2215" dirty="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Ⅴ</a:t>
              </a:r>
              <a:endParaRPr lang="ko-KR" altLang="en-US" sz="2215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1524000" y="182747"/>
              <a:ext cx="265846" cy="53175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477">
                <a:solidFill>
                  <a:prstClr val="whit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432334" y="212350"/>
              <a:ext cx="82356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 err="1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환경성</a:t>
              </a:r>
              <a:endParaRPr lang="ko-KR" altLang="en-US" sz="20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311653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9D67D6C8-5963-4DC7-92A9-F6F9A3AF3A67}"/>
              </a:ext>
            </a:extLst>
          </p:cNvPr>
          <p:cNvGrpSpPr/>
          <p:nvPr/>
        </p:nvGrpSpPr>
        <p:grpSpPr>
          <a:xfrm>
            <a:off x="0" y="173011"/>
            <a:ext cx="12192000" cy="531751"/>
            <a:chOff x="1524000" y="173011"/>
            <a:chExt cx="9144000" cy="531751"/>
          </a:xfrm>
        </p:grpSpPr>
        <p:cxnSp>
          <p:nvCxnSpPr>
            <p:cNvPr id="13" name="직선 연결선 12"/>
            <p:cNvCxnSpPr/>
            <p:nvPr/>
          </p:nvCxnSpPr>
          <p:spPr>
            <a:xfrm>
              <a:off x="1524000" y="704761"/>
              <a:ext cx="9144000" cy="0"/>
            </a:xfrm>
            <a:prstGeom prst="line">
              <a:avLst/>
            </a:prstGeom>
            <a:ln w="12700">
              <a:solidFill>
                <a:srgbClr val="101381">
                  <a:alpha val="4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직사각형 13"/>
            <p:cNvSpPr/>
            <p:nvPr/>
          </p:nvSpPr>
          <p:spPr>
            <a:xfrm>
              <a:off x="1845454" y="173011"/>
              <a:ext cx="508938" cy="53175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ko-KR" sz="2215" b="1" dirty="0">
                  <a:ln w="13500">
                    <a:solidFill>
                      <a:schemeClr val="accent1">
                        <a:shade val="2500"/>
                        <a:alpha val="65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Ⅵ</a:t>
              </a:r>
              <a:endParaRPr lang="ko-KR" altLang="en-US" sz="2215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1524000" y="173011"/>
              <a:ext cx="265846" cy="53175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477">
                <a:solidFill>
                  <a:prstClr val="whit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387087" y="208054"/>
              <a:ext cx="82356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</a:t>
              </a:r>
              <a:r>
                <a:rPr lang="ko-KR" altLang="en-US" sz="24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유지관리성</a:t>
              </a:r>
              <a:endParaRPr lang="ko-KR" altLang="en-US" sz="20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sp>
        <p:nvSpPr>
          <p:cNvPr id="32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9689397" y="6562285"/>
            <a:ext cx="730250" cy="274320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3094819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9D67D6C8-5963-4DC7-92A9-F6F9A3AF3A67}"/>
              </a:ext>
            </a:extLst>
          </p:cNvPr>
          <p:cNvGrpSpPr/>
          <p:nvPr/>
        </p:nvGrpSpPr>
        <p:grpSpPr>
          <a:xfrm>
            <a:off x="0" y="173011"/>
            <a:ext cx="12192000" cy="531751"/>
            <a:chOff x="1524000" y="173011"/>
            <a:chExt cx="9144000" cy="531751"/>
          </a:xfrm>
        </p:grpSpPr>
        <p:cxnSp>
          <p:nvCxnSpPr>
            <p:cNvPr id="13" name="직선 연결선 12"/>
            <p:cNvCxnSpPr/>
            <p:nvPr/>
          </p:nvCxnSpPr>
          <p:spPr>
            <a:xfrm>
              <a:off x="1524000" y="704761"/>
              <a:ext cx="9144000" cy="0"/>
            </a:xfrm>
            <a:prstGeom prst="line">
              <a:avLst/>
            </a:prstGeom>
            <a:ln w="12700">
              <a:solidFill>
                <a:srgbClr val="101381">
                  <a:alpha val="4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직사각형 13"/>
            <p:cNvSpPr/>
            <p:nvPr/>
          </p:nvSpPr>
          <p:spPr>
            <a:xfrm>
              <a:off x="1845454" y="173011"/>
              <a:ext cx="508938" cy="53175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ko-KR" sz="2215" b="1" dirty="0">
                  <a:ln w="13500">
                    <a:solidFill>
                      <a:schemeClr val="accent1">
                        <a:shade val="2500"/>
                        <a:alpha val="65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Ⅵ</a:t>
              </a:r>
              <a:endParaRPr lang="ko-KR" altLang="en-US" sz="2215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1524000" y="173011"/>
              <a:ext cx="265846" cy="53175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477">
                <a:solidFill>
                  <a:prstClr val="whit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387087" y="208054"/>
              <a:ext cx="82356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</a:t>
              </a:r>
              <a:r>
                <a:rPr lang="ko-KR" altLang="en-US" sz="24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유지관리성</a:t>
              </a:r>
              <a:endParaRPr lang="ko-KR" altLang="en-US" sz="20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sp>
        <p:nvSpPr>
          <p:cNvPr id="32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9689397" y="6562285"/>
            <a:ext cx="730250" cy="274320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6975358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3713994" y="1821446"/>
            <a:ext cx="4764012" cy="3215108"/>
          </a:xfrm>
          <a:prstGeom prst="rect">
            <a:avLst/>
          </a:prstGeom>
          <a:solidFill>
            <a:schemeClr val="bg1">
              <a:alpha val="67000"/>
            </a:schemeClr>
          </a:solidFill>
          <a:ln w="635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987089" y="2921170"/>
            <a:ext cx="421782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effectLst>
                  <a:outerShdw blurRad="114300" algn="ctr" rotWithShape="0">
                    <a:prstClr val="white">
                      <a:alpha val="40000"/>
                    </a:prstClr>
                  </a:outerShdw>
                </a:effectLst>
                <a:latin typeface="HY헤드라인M" panose="02030600000101010101" pitchFamily="18" charset="-127"/>
                <a:ea typeface="HY헤드라인M" panose="02030600000101010101" pitchFamily="18" charset="-127"/>
              </a:rPr>
              <a:t>감사합니다</a:t>
            </a:r>
            <a:r>
              <a:rPr lang="en-US" altLang="ko-KR" sz="6000" dirty="0">
                <a:effectLst>
                  <a:outerShdw blurRad="114300" algn="ctr" rotWithShape="0">
                    <a:prstClr val="white">
                      <a:alpha val="40000"/>
                    </a:prstClr>
                  </a:outerShdw>
                </a:effectLst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  <a:endParaRPr lang="ko-KR" altLang="en-US" sz="6000" dirty="0">
              <a:effectLst>
                <a:outerShdw blurRad="114300" algn="ctr" rotWithShape="0">
                  <a:prstClr val="white">
                    <a:alpha val="40000"/>
                  </a:prstClr>
                </a:outerShdw>
              </a:effectLst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67625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전체">
  <a:themeElements>
    <a:clrScheme name="전체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전체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전체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29905</TotalTime>
  <Words>262</Words>
  <Application>Microsoft Office PowerPoint</Application>
  <PresentationFormat>와이드스크린</PresentationFormat>
  <Paragraphs>61</Paragraphs>
  <Slides>22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31" baseType="lpstr">
      <vt:lpstr>HY얕은샘물M</vt:lpstr>
      <vt:lpstr>HY헤드라인M</vt:lpstr>
      <vt:lpstr>나눔바른고딕</vt:lpstr>
      <vt:lpstr>맑은 고딕</vt:lpstr>
      <vt:lpstr>Calibri</vt:lpstr>
      <vt:lpstr>Tw Cen MT</vt:lpstr>
      <vt:lpstr>Tw Cen MT Condensed</vt:lpstr>
      <vt:lpstr>Wingdings 3</vt:lpstr>
      <vt:lpstr>전체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스머프마을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투덜이</dc:creator>
  <cp:lastModifiedBy>@@@</cp:lastModifiedBy>
  <cp:revision>2339</cp:revision>
  <cp:lastPrinted>2020-05-22T02:04:34Z</cp:lastPrinted>
  <dcterms:created xsi:type="dcterms:W3CDTF">2011-05-20T09:12:55Z</dcterms:created>
  <dcterms:modified xsi:type="dcterms:W3CDTF">2025-12-22T09:47:29Z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Fasoo_Trace_ID" pid="2">
    <vt:lpwstr>eyJub2RlMSI6eyJkc2QiOiIwMDAwMDAwMDAwMDAwMDAwIiwibG9nVGltZSI6IjIwMjYtMDEtMTJUMDI6MTU6NDdaIiwicElEIjoyMDQ4LCJwcm9jZXNzSWQiOjE5MzMyLCJwcm9jZXNzTmFtZSI6ImZfYmF0bWdyLmV4ZSIsInRyYWNlSWQiOiI5MzgxODFGMzZDMTM0MjkwQTNERkQwMjk1MjAyODJCRSIsInVzZXJDb2RlIjoiMjAxNjE4MjkifSwibm9kZTIiOnsiZHNkIjoiMDEwMDAwMDAwMDAwMzM1NyIsImxvZ1RpbWUiOiIyMDI2LTAxLTIwVDAyOjU2OjI3WiIsInBJRCI6MSwicHJvY2Vzc0lkIjoxOTMzMiwicHJvY2Vzc05hbWUiOiJmX2JhdG1nci5leGUiLCJ0cmFjZUlkIjoiMDVFRDlFQTM4M0YxNDMxQzlGNEExODg3NkZCNzUwMDMiLCJ1c2VyQ29kZSI6IjIwMTkzMTYwIn0sIm5vZGUzIjp7ImRzZCI6IjAwMDAwMDAwMDAwMDAwMDAiLCJsb2dUaW1lIjoiMjAyNi0wMy0xMFQwMDoyMToxN1oiLCJwSUQiOjIwNDgsInByb2Nlc3NJZCI6MTkzMzIsInByb2Nlc3NOYW1lIjoiZl9iYXRtZ3IuZXhlIiwidHJhY2VJZCI6IkVEQjM4ODIzRjAyNjQ1MzdCN0IzMTBDQ0M2RTE2N0FGIiwidXNlckNvZGUiOiIyMDE5MzE2MCJ9LCJub2RlNCI6eyJkc2QiOiIwMTAwMDAwMDAwMDAzMzU3IiwibG9nVGltZSI6IjIwMjYtMDMtMTlUMDI6NTc6MDdaIiwicElEIjoxLCJwcm9jZXNzSWQiOjE5MzMyLCJwcm9jZXNzTmFtZSI6ImZfYmF0bWdyLmV4ZSIsInRyYWNlSWQiOiJCMTc2OTlEMDc2N0Q0M0ExODI2RjE2MzIyM0MxMEI1OSIsInVzZXJDb2RlIjoiMjAxOTMxNjAifSwibm9kZTUiOnsiZHNkIjoiMDAwMDAwMDAwMDAwMDAwMCIsImxvZ1RpbWUiOiIyMDI2LTA0LTEzVDA5OjE4OjU2WiIsInBJRCI6MjA0OCwicHJvY2Vzc0lkIjoyMTA3NiwicHJvY2Vzc05hbWUiOiJmX2JhdG1nci5leGUiLCJ0cmFjZUlkIjoiRUEzQTlCMzk0Nzc4NEE0QjhGOEY0MjdCMEU5ODUzMDUiLCJ1c2VyQ29kZSI6IjIwMjEzNDI2In0sIm5vZGVDb3VudCI6Niwicm9vdFRyYWNlSWQiOiIyQkM5QTFBODA5OEI0OUQ2QTk4QUQ1N0JBRTNCMDUzNiJ9</vt:lpwstr>
  </property>
</Properties>
</file>