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789839-1DB3-4AA5-9F25-2A256097309D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6C719B-F513-4FFB-AC23-9B25BB474C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75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9650B-FCD0-6622-EB7D-A52E0CCE6A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C93245-530C-891C-0953-46E974572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6A4B-56EE-5949-C98B-44CA1137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11B0E5-0D21-5499-67B8-6114B31B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7DFA83-4068-566D-12B8-C15BF54F6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22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1FB9F-888F-C286-D06D-EF6E688E3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1FA70E-7731-E1AB-5226-3702C3190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4BCAAF-EDCF-4D2D-1C2C-C87F6FB7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D25443-025A-1DE0-25AA-21A64961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7FC025-7E89-064D-4B65-D0FE3477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22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E9669-55BB-4BEB-89E7-CCD7F760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624222-F532-479A-44C2-F6C0390B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64B414-F9B3-AA8E-851C-1DD2F18D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BD0F81-30A8-60A8-2F64-4C70D376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8343BE-32E4-A542-30FE-69C6B3CE2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89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57F1D-3037-2526-540F-368CA67A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1EC865-BAD5-6A94-ECB3-E03E27DDB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2A5AC9-E09C-D80E-D542-E65E28A71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5E608A-B493-86D4-3449-A3206770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83AB3A-0D3C-D980-AB39-D6D154031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D117B7-6246-9E35-F0B1-42A36DEE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4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44178-9CDC-8910-43E1-4D490A9AE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130F9D-4F46-AA61-D86D-6B654FB1D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FB7273-DD29-A814-E268-F8B9FE809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90FE19-0D3C-3B0C-7027-F369A5FC2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C4A47A-052F-0225-137E-0FAEB4CA8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BB4DE3-9EB3-9B32-0C1D-8793CEB5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FF46CB-ECD0-C48E-85B0-D50EF770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DB5BE2-1DE4-71A0-FE4F-8B35D797D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99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F3E5A-5777-5D3B-4DFF-B0B97DC2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9161C02-1EED-AC67-DB91-BD35222A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BAFB94-4563-D4EE-9A96-F9E74077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049129-B661-8229-56E2-B3AD9117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226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652285-9AA6-1668-0E25-EC99CA58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7B79E5-2FEF-BDB0-986E-57EA21E2B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09380D-FF41-05C2-7073-ACBC5CD9F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85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6A407B-84E3-0F75-C9E3-E41974F8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DB3486-5610-EAE7-21E5-24440B277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480E6C-5333-2256-B389-89C0AB4A8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7BA7E1-21E0-A082-F55E-8CB0975DC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DE71F2-EF34-C4FB-3330-B80B0963A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23AAD8-CD4F-EC2D-A727-E29653934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19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9F8857-C721-49E1-DAD2-0D7A202F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E6F31B-F286-D1B7-2990-642ADAEF5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C48D61-275E-2BA9-E420-277E63A6B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7B4CDD-A1DD-400D-D174-9717AEAC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90131A-7EE5-1FE3-5581-D0FC9DB24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59ACA1-DA9A-C06E-B1FF-443F1847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83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F80BC-3F8A-98D2-6253-6FBA1176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B10DFE-73AF-61C6-2F25-C13F0B0D5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5C937B-461A-D564-F59E-D22E395F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8BD1F-47AA-5F47-AE3B-0B4D96DB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B7982-556A-B548-58CA-97EDE6D33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600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F33393-2DB3-2E4F-B225-6D9A42C85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DF8FB4-61AA-37F0-D6DF-397A1A8C2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071174-0024-C1DD-1A60-2CAE2FD4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3626C-7EB8-E693-F211-0A8F6945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79EC66-F12D-A86C-5FCA-EAC1613EC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83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7F30841-405C-E266-26AC-00950C32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A5737E-F0FF-1FB0-400A-CA8227F33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3377A-D841-39CB-9F24-E0A4AAAFF5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37913-A978-4D8D-8C74-20573F1F3FC1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1B9F0E-A71E-8C69-A9CF-7D3EA67FE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942D3-99C3-4043-FC7E-2243AD10F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DC940-0419-4400-BAB4-A8ABBC7B10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04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198C650E-0068-74FA-434C-E6F4B33B6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09" y="160337"/>
            <a:ext cx="11038755" cy="662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71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64C9BEC-0FF3-70C7-BC39-DC2AC63346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6" t="9697" r="345" b="4969"/>
          <a:stretch>
            <a:fillRect/>
          </a:stretch>
        </p:blipFill>
        <p:spPr>
          <a:xfrm>
            <a:off x="1122053" y="413299"/>
            <a:ext cx="9947893" cy="603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1661C4-6FAC-6CDD-60F6-690A641B7DA9}"/>
              </a:ext>
            </a:extLst>
          </p:cNvPr>
          <p:cNvSpPr txBox="1"/>
          <p:nvPr/>
        </p:nvSpPr>
        <p:spPr>
          <a:xfrm>
            <a:off x="0" y="351796"/>
            <a:ext cx="68995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/>
              <a:t>📋 산업재해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질병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수치 상승 대응 및 소명 절차 보고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58637-0D3C-B4F4-2730-63E8936E1803}"/>
              </a:ext>
            </a:extLst>
          </p:cNvPr>
          <p:cNvSpPr txBox="1"/>
          <p:nvPr/>
        </p:nvSpPr>
        <p:spPr>
          <a:xfrm>
            <a:off x="591124" y="1113845"/>
            <a:ext cx="10233891" cy="1297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1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정확한 원인 발생 건수 확인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목적</a:t>
            </a:r>
            <a:r>
              <a:rPr lang="en-US" altLang="ko-KR" sz="1400" b="1" dirty="0"/>
              <a:t>:</a:t>
            </a:r>
            <a:r>
              <a:rPr lang="ko-KR" altLang="en-US" sz="1400" dirty="0"/>
              <a:t> 질병 수치 </a:t>
            </a:r>
            <a:r>
              <a:rPr lang="en-US" altLang="ko-KR" sz="1400" dirty="0"/>
              <a:t>0.38</a:t>
            </a:r>
            <a:r>
              <a:rPr lang="ko-KR" altLang="en-US" sz="1400" dirty="0"/>
              <a:t>을 발생시킨 구체적인 산재 승인 건수</a:t>
            </a:r>
            <a:r>
              <a:rPr lang="en-US" altLang="ko-KR" sz="1400" dirty="0"/>
              <a:t>(</a:t>
            </a:r>
            <a:r>
              <a:rPr lang="ko-KR" altLang="en-US" sz="1400" dirty="0"/>
              <a:t>인원</a:t>
            </a:r>
            <a:r>
              <a:rPr lang="en-US" altLang="ko-KR" sz="1400" dirty="0"/>
              <a:t>) </a:t>
            </a:r>
            <a:r>
              <a:rPr lang="ko-KR" altLang="en-US" sz="1400" dirty="0"/>
              <a:t>파악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방법</a:t>
            </a:r>
            <a:r>
              <a:rPr lang="en-US" altLang="ko-KR" sz="1400" b="1" dirty="0"/>
              <a:t>:</a:t>
            </a:r>
            <a:r>
              <a:rPr lang="ko-KR" altLang="en-US" sz="1400" dirty="0"/>
              <a:t> 고용</a:t>
            </a:r>
            <a:r>
              <a:rPr lang="en-US" altLang="ko-KR" sz="1400" dirty="0"/>
              <a:t>·</a:t>
            </a:r>
            <a:r>
              <a:rPr lang="ko-KR" altLang="en-US" sz="1400" dirty="0"/>
              <a:t>산재보험 </a:t>
            </a:r>
            <a:r>
              <a:rPr lang="ko-KR" altLang="en-US" sz="1400" dirty="0" err="1"/>
              <a:t>토탈서비스</a:t>
            </a:r>
            <a:r>
              <a:rPr lang="ko-KR" altLang="en-US" sz="1400" dirty="0"/>
              <a:t> 접속 →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산재재해 발생현황</a:t>
            </a:r>
            <a:r>
              <a:rPr lang="en-US" altLang="ko-KR" sz="1400" b="1" dirty="0"/>
              <a:t>]</a:t>
            </a:r>
            <a:r>
              <a:rPr lang="ko-KR" altLang="en-US" sz="1400" dirty="0"/>
              <a:t> 및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보험료율 결정 통지서</a:t>
            </a:r>
            <a:r>
              <a:rPr lang="en-US" altLang="ko-KR" sz="1400" b="1" dirty="0"/>
              <a:t>]</a:t>
            </a:r>
            <a:r>
              <a:rPr lang="ko-KR" altLang="en-US" sz="1400" dirty="0"/>
              <a:t> 확인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체크포인트</a:t>
            </a:r>
            <a:r>
              <a:rPr lang="en-US" altLang="ko-KR" sz="1400" b="1" dirty="0"/>
              <a:t>:</a:t>
            </a:r>
            <a:r>
              <a:rPr lang="ko-KR" altLang="en-US" sz="1400" dirty="0"/>
              <a:t> 작년</a:t>
            </a:r>
            <a:r>
              <a:rPr lang="en-US" altLang="ko-KR" sz="1400" dirty="0"/>
              <a:t>(2025</a:t>
            </a:r>
            <a:r>
              <a:rPr lang="ko-KR" altLang="en-US" sz="1400" dirty="0"/>
              <a:t>년</a:t>
            </a:r>
            <a:r>
              <a:rPr lang="en-US" altLang="ko-KR" sz="1400" dirty="0"/>
              <a:t>) </a:t>
            </a:r>
            <a:r>
              <a:rPr lang="ko-KR" altLang="en-US" sz="1400" dirty="0"/>
              <a:t>중 우리 회사 소속으로 산재 승인을 받은 근로자가 누구인지 명단 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37965-D65F-B839-332E-29FB283B64AD}"/>
              </a:ext>
            </a:extLst>
          </p:cNvPr>
          <p:cNvSpPr txBox="1"/>
          <p:nvPr/>
        </p:nvSpPr>
        <p:spPr>
          <a:xfrm>
            <a:off x="591125" y="2827067"/>
            <a:ext cx="10233891" cy="1112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2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산재 승인 결정 근거 확보 </a:t>
            </a:r>
            <a:r>
              <a:rPr lang="en-US" altLang="ko-KR" b="1" dirty="0"/>
              <a:t>(</a:t>
            </a:r>
            <a:r>
              <a:rPr lang="ko-KR" altLang="en-US" b="1" dirty="0"/>
              <a:t>정보공개청구</a:t>
            </a:r>
            <a:r>
              <a:rPr lang="en-US" altLang="ko-KR" b="1" dirty="0"/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목적</a:t>
            </a:r>
            <a:r>
              <a:rPr lang="en-US" altLang="ko-KR" sz="1400" b="1" dirty="0"/>
              <a:t>:</a:t>
            </a:r>
            <a:r>
              <a:rPr lang="ko-KR" altLang="en-US" sz="1400" dirty="0"/>
              <a:t> 근로복지공단이 해당 근로자의 질병을 왜 </a:t>
            </a:r>
            <a:r>
              <a:rPr lang="en-US" altLang="ko-KR" sz="1400" dirty="0"/>
              <a:t>'</a:t>
            </a:r>
            <a:r>
              <a:rPr lang="ko-KR" altLang="en-US" sz="1400" dirty="0"/>
              <a:t>우리 회사 책임</a:t>
            </a:r>
            <a:r>
              <a:rPr lang="en-US" altLang="ko-KR" sz="1400" dirty="0"/>
              <a:t>'</a:t>
            </a:r>
            <a:r>
              <a:rPr lang="ko-KR" altLang="en-US" sz="1400" dirty="0"/>
              <a:t>으로 판정했는지 상세 사유 파악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방법</a:t>
            </a:r>
            <a:r>
              <a:rPr lang="en-US" altLang="ko-KR" sz="1400" b="1" dirty="0"/>
              <a:t>:</a:t>
            </a:r>
            <a:r>
              <a:rPr lang="ko-KR" altLang="en-US" sz="1400" dirty="0"/>
              <a:t> 공단에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산재 결정 이유서</a:t>
            </a:r>
            <a:r>
              <a:rPr lang="en-US" altLang="ko-KR" sz="1400" b="1" dirty="0"/>
              <a:t>]</a:t>
            </a:r>
            <a:r>
              <a:rPr lang="ko-KR" altLang="en-US" sz="1400" dirty="0"/>
              <a:t> 및 </a:t>
            </a:r>
            <a:r>
              <a:rPr lang="en-US" altLang="ko-KR" sz="1400" b="1" dirty="0"/>
              <a:t>[</a:t>
            </a:r>
            <a:r>
              <a:rPr lang="ko-KR" altLang="en-US" sz="1400" b="1" dirty="0"/>
              <a:t>판정서</a:t>
            </a:r>
            <a:r>
              <a:rPr lang="en-US" altLang="ko-KR" sz="1400" b="1" dirty="0"/>
              <a:t>]</a:t>
            </a:r>
            <a:r>
              <a:rPr lang="ko-KR" altLang="en-US" sz="1400" dirty="0"/>
              <a:t> 정보공개청구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A075FE-B357-BA37-AE2F-237C4A226BC7}"/>
              </a:ext>
            </a:extLst>
          </p:cNvPr>
          <p:cNvSpPr txBox="1"/>
          <p:nvPr/>
        </p:nvSpPr>
        <p:spPr>
          <a:xfrm>
            <a:off x="591126" y="4263384"/>
            <a:ext cx="11508510" cy="24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3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회사측 반박 자료</a:t>
            </a:r>
            <a:r>
              <a:rPr lang="en-US" altLang="ko-KR" b="1" dirty="0"/>
              <a:t>(</a:t>
            </a:r>
            <a:r>
              <a:rPr lang="ko-KR" altLang="en-US" b="1" dirty="0"/>
              <a:t>소명 자료</a:t>
            </a:r>
            <a:r>
              <a:rPr lang="en-US" altLang="ko-KR" b="1" dirty="0"/>
              <a:t>) </a:t>
            </a:r>
            <a:r>
              <a:rPr lang="ko-KR" altLang="en-US" b="1" dirty="0"/>
              <a:t>수집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목적</a:t>
            </a:r>
            <a:r>
              <a:rPr lang="en-US" altLang="ko-KR" sz="1400" b="1" dirty="0"/>
              <a:t>:</a:t>
            </a:r>
            <a:r>
              <a:rPr lang="ko-KR" altLang="en-US" sz="1400" dirty="0"/>
              <a:t> 해당 질병이 우리 회사의 작업 환경과 직접적인 연관이 없음을 입증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주요 자료</a:t>
            </a:r>
            <a:r>
              <a:rPr lang="en-US" altLang="ko-KR" sz="1400" b="1" dirty="0"/>
              <a:t>:</a:t>
            </a:r>
            <a:endParaRPr lang="ko-KR" altLang="en-US" sz="1400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입사 전 경력</a:t>
            </a:r>
            <a:r>
              <a:rPr lang="en-US" altLang="ko-KR" sz="1400" b="1" dirty="0"/>
              <a:t>:</a:t>
            </a:r>
            <a:r>
              <a:rPr lang="ko-KR" altLang="en-US" sz="1400" dirty="0"/>
              <a:t> 타사에서의 유사 공정 근무 이력 확인 </a:t>
            </a:r>
            <a:r>
              <a:rPr lang="en-US" altLang="ko-KR" sz="1400" dirty="0"/>
              <a:t>(</a:t>
            </a:r>
            <a:r>
              <a:rPr lang="ko-KR" altLang="en-US" sz="1400" dirty="0"/>
              <a:t>과거 직업병 가능성</a:t>
            </a:r>
            <a:r>
              <a:rPr lang="en-US" altLang="ko-KR" sz="1400" dirty="0"/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건강진단 기록</a:t>
            </a:r>
            <a:r>
              <a:rPr lang="en-US" altLang="ko-KR" sz="1400" b="1" dirty="0"/>
              <a:t>:</a:t>
            </a:r>
            <a:r>
              <a:rPr lang="ko-KR" altLang="en-US" sz="1400" dirty="0"/>
              <a:t> 입사 당시 이미 해당 질병 증상이 있었는지 확인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기왕증</a:t>
            </a:r>
            <a:r>
              <a:rPr lang="ko-KR" altLang="en-US" sz="1400" dirty="0"/>
              <a:t> 증명</a:t>
            </a:r>
            <a:r>
              <a:rPr lang="en-US" altLang="ko-KR" sz="1400" dirty="0"/>
              <a:t>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작업환경측정 결과</a:t>
            </a:r>
            <a:r>
              <a:rPr lang="en-US" altLang="ko-KR" sz="1400" b="1" dirty="0"/>
              <a:t>:</a:t>
            </a:r>
            <a:r>
              <a:rPr lang="ko-KR" altLang="en-US" sz="1400" dirty="0"/>
              <a:t> 우리 현장의 유해 요인</a:t>
            </a:r>
            <a:r>
              <a:rPr lang="en-US" altLang="ko-KR" sz="1400" dirty="0"/>
              <a:t>(</a:t>
            </a:r>
            <a:r>
              <a:rPr lang="ko-KR" altLang="en-US" sz="1400" dirty="0"/>
              <a:t>소음</a:t>
            </a:r>
            <a:r>
              <a:rPr lang="en-US" altLang="ko-KR" sz="1400" dirty="0"/>
              <a:t>, </a:t>
            </a:r>
            <a:r>
              <a:rPr lang="ko-KR" altLang="en-US" sz="1400" dirty="0"/>
              <a:t>분진 등</a:t>
            </a:r>
            <a:r>
              <a:rPr lang="en-US" altLang="ko-KR" sz="1400" dirty="0"/>
              <a:t>)</a:t>
            </a:r>
            <a:r>
              <a:rPr lang="ko-KR" altLang="en-US" sz="1400" dirty="0"/>
              <a:t>이 법적 기준치 이내라는 데이터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근무 기간 및 강도</a:t>
            </a:r>
            <a:r>
              <a:rPr lang="en-US" altLang="ko-KR" sz="1400" b="1" dirty="0"/>
              <a:t>:</a:t>
            </a:r>
            <a:r>
              <a:rPr lang="ko-KR" altLang="en-US" sz="1400" dirty="0"/>
              <a:t> 질병이 발생하기에는 우리 회사에서의 근무 기간이 짧거나 노동 강도가 낮았음을 입증하는 자료</a:t>
            </a:r>
          </a:p>
        </p:txBody>
      </p:sp>
    </p:spTree>
    <p:extLst>
      <p:ext uri="{BB962C8B-B14F-4D97-AF65-F5344CB8AC3E}">
        <p14:creationId xmlns:p14="http://schemas.microsoft.com/office/powerpoint/2010/main" val="37506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1D107-F506-FA39-EEF9-119AEE5F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B655971-FC65-CC04-732D-8C475BD06A57}"/>
              </a:ext>
            </a:extLst>
          </p:cNvPr>
          <p:cNvSpPr txBox="1"/>
          <p:nvPr/>
        </p:nvSpPr>
        <p:spPr>
          <a:xfrm>
            <a:off x="591123" y="476536"/>
            <a:ext cx="10233891" cy="1112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4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근로복지공단 소명 및 이의제기</a:t>
            </a:r>
            <a:endParaRPr lang="en-US" altLang="ko-KR" b="1" dirty="0"/>
          </a:p>
          <a:p>
            <a:pPr marL="742950" lvl="1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400" b="1" dirty="0"/>
              <a:t>목적: </a:t>
            </a:r>
            <a:r>
              <a:rPr lang="ko-KR" altLang="ko-KR" sz="1400" dirty="0"/>
              <a:t>잘못 산정되었거나 억울한 부분이 있다면 재심사를 통해 수치 조정 시도</a:t>
            </a:r>
          </a:p>
          <a:p>
            <a:pPr marL="742950" lvl="1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400" b="1" dirty="0"/>
              <a:t>방법: </a:t>
            </a:r>
            <a:r>
              <a:rPr lang="ko-KR" altLang="ko-KR" sz="1400" dirty="0"/>
              <a:t>확보된 소명 자료를 바탕으로 공단 담당자 상담 및 필요시 </a:t>
            </a:r>
            <a:r>
              <a:rPr lang="ko-KR" altLang="ko-KR" sz="1400" b="1" dirty="0"/>
              <a:t>[심사청구(이의신청)] </a:t>
            </a:r>
            <a:r>
              <a:rPr lang="ko-KR" altLang="ko-KR" sz="1400" dirty="0"/>
              <a:t>진행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DA7333-2781-54A1-FD76-D45CAA01FC3E}"/>
              </a:ext>
            </a:extLst>
          </p:cNvPr>
          <p:cNvSpPr txBox="1"/>
          <p:nvPr/>
        </p:nvSpPr>
        <p:spPr>
          <a:xfrm>
            <a:off x="591123" y="1875721"/>
            <a:ext cx="10233891" cy="1112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5</a:t>
            </a:r>
            <a:r>
              <a:rPr lang="ko-KR" altLang="en-US" b="1" dirty="0"/>
              <a:t>단계</a:t>
            </a:r>
            <a:r>
              <a:rPr lang="en-US" altLang="ko-KR" b="1" dirty="0"/>
              <a:t>: </a:t>
            </a:r>
            <a:r>
              <a:rPr lang="ko-KR" altLang="en-US" b="1" dirty="0"/>
              <a:t>재발 방지 및 산재예방 체계 점검</a:t>
            </a:r>
            <a:endParaRPr lang="en-US" altLang="ko-KR" b="1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목적</a:t>
            </a:r>
            <a:r>
              <a:rPr lang="en-US" altLang="ko-KR" sz="1400" b="1" dirty="0"/>
              <a:t>: </a:t>
            </a:r>
            <a:r>
              <a:rPr lang="ko-KR" altLang="en-US" sz="1400" dirty="0"/>
              <a:t>향후 추가적인 질병 산재 발생을 막고 보험료 할증 방어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내용</a:t>
            </a:r>
            <a:r>
              <a:rPr lang="en-US" altLang="ko-KR" sz="1400" b="1" dirty="0"/>
              <a:t>: </a:t>
            </a:r>
            <a:r>
              <a:rPr lang="ko-KR" altLang="en-US" sz="1400" dirty="0"/>
              <a:t>특수건강진단 실시 현황 점검</a:t>
            </a:r>
            <a:r>
              <a:rPr lang="en-US" altLang="ko-KR" sz="1400" dirty="0"/>
              <a:t>, </a:t>
            </a:r>
            <a:r>
              <a:rPr lang="ko-KR" altLang="en-US" sz="1400" dirty="0"/>
              <a:t>현장 안전보건 교육 강화 등</a:t>
            </a:r>
          </a:p>
        </p:txBody>
      </p:sp>
    </p:spTree>
    <p:extLst>
      <p:ext uri="{BB962C8B-B14F-4D97-AF65-F5344CB8AC3E}">
        <p14:creationId xmlns:p14="http://schemas.microsoft.com/office/powerpoint/2010/main" val="1674987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272</Words>
  <Application>Microsoft Office PowerPoint</Application>
  <PresentationFormat>와이드스크린</PresentationFormat>
  <Paragraphs>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승리 백</dc:creator>
  <cp:lastModifiedBy>승리 백</cp:lastModifiedBy>
  <cp:revision>1</cp:revision>
  <dcterms:created xsi:type="dcterms:W3CDTF">2026-04-21T03:13:50Z</dcterms:created>
  <dcterms:modified xsi:type="dcterms:W3CDTF">2026-04-21T03:20:23Z</dcterms:modified>
</cp:coreProperties>
</file>