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25"/>
  </p:notesMasterIdLst>
  <p:handoutMasterIdLst>
    <p:handoutMasterId r:id="rId26"/>
  </p:handoutMasterIdLst>
  <p:sldIdLst>
    <p:sldId id="515" r:id="rId2"/>
    <p:sldId id="309" r:id="rId3"/>
    <p:sldId id="464" r:id="rId4"/>
    <p:sldId id="524" r:id="rId5"/>
    <p:sldId id="525" r:id="rId6"/>
    <p:sldId id="516" r:id="rId7"/>
    <p:sldId id="526" r:id="rId8"/>
    <p:sldId id="527" r:id="rId9"/>
    <p:sldId id="528" r:id="rId10"/>
    <p:sldId id="529" r:id="rId11"/>
    <p:sldId id="522" r:id="rId12"/>
    <p:sldId id="530" r:id="rId13"/>
    <p:sldId id="523" r:id="rId14"/>
    <p:sldId id="531" r:id="rId15"/>
    <p:sldId id="532" r:id="rId16"/>
    <p:sldId id="533" r:id="rId17"/>
    <p:sldId id="539" r:id="rId18"/>
    <p:sldId id="534" r:id="rId19"/>
    <p:sldId id="535" r:id="rId20"/>
    <p:sldId id="536" r:id="rId21"/>
    <p:sldId id="443" r:id="rId22"/>
    <p:sldId id="538" r:id="rId23"/>
    <p:sldId id="343" r:id="rId2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orient="horz" pos="4088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57" userDrawn="1">
          <p15:clr>
            <a:srgbClr val="A4A3A4"/>
          </p15:clr>
        </p15:guide>
        <p15:guide id="7" pos="3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00"/>
    <a:srgbClr val="FF9933"/>
    <a:srgbClr val="FFCC66"/>
    <a:srgbClr val="FFFF99"/>
    <a:srgbClr val="FFFFCC"/>
    <a:srgbClr val="FF99CC"/>
    <a:srgbClr val="CCCC00"/>
    <a:srgbClr val="9933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00" autoAdjust="0"/>
    <p:restoredTop sz="89620" autoAdjust="0"/>
  </p:normalViewPr>
  <p:slideViewPr>
    <p:cSldViewPr snapToGrid="0">
      <p:cViewPr varScale="1">
        <p:scale>
          <a:sx n="67" d="100"/>
          <a:sy n="67" d="100"/>
        </p:scale>
        <p:origin x="522" y="66"/>
      </p:cViewPr>
      <p:guideLst>
        <p:guide orient="horz"/>
        <p:guide orient="horz" pos="4088"/>
        <p:guide orient="horz" pos="935"/>
        <p:guide orient="horz" pos="754"/>
        <p:guide pos="3840"/>
        <p:guide pos="7357"/>
        <p:guide pos="323"/>
      </p:guideLst>
    </p:cSldViewPr>
  </p:slideViewPr>
  <p:outlineViewPr>
    <p:cViewPr>
      <p:scale>
        <a:sx n="33" d="100"/>
        <a:sy n="33" d="100"/>
      </p:scale>
      <p:origin x="0" y="-33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92" y="0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/>
          <a:lstStyle>
            <a:lvl1pPr algn="r">
              <a:defRPr sz="1200"/>
            </a:lvl1pPr>
          </a:lstStyle>
          <a:p>
            <a:fld id="{4522B31F-EA4F-48CF-81C7-034EF0DE6385}" type="datetimeFigureOut">
              <a:rPr lang="ko-KR" altLang="en-US" smtClean="0"/>
              <a:pPr/>
              <a:t>2026-04-01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9428712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92" y="9428712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 anchor="b"/>
          <a:lstStyle>
            <a:lvl1pPr algn="r">
              <a:defRPr sz="1200"/>
            </a:lvl1pPr>
          </a:lstStyle>
          <a:p>
            <a:fld id="{8B260A2D-403C-4EE7-8C82-051E2C5764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476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7" y="1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/>
          <a:lstStyle>
            <a:lvl1pPr algn="r">
              <a:defRPr sz="1200"/>
            </a:lvl1pPr>
          </a:lstStyle>
          <a:p>
            <a:fld id="{A0789188-4D18-4B3A-8D80-698D3ED944E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64" tIns="47733" rIns="95464" bIns="47733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7"/>
          </a:xfrm>
          <a:prstGeom prst="rect">
            <a:avLst/>
          </a:prstGeom>
        </p:spPr>
        <p:txBody>
          <a:bodyPr vert="horz" lIns="95464" tIns="47733" rIns="95464" bIns="4773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428586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7" y="9428586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 anchor="b"/>
          <a:lstStyle>
            <a:lvl1pPr algn="r">
              <a:defRPr sz="1200"/>
            </a:lvl1pPr>
          </a:lstStyle>
          <a:p>
            <a:fld id="{D16B6CA8-27C3-4CF7-8F81-A8AB068775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0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701F160-CF4D-4C5D-A521-814E082B8348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30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4E943-58E0-406D-8E05-C564092D2B5C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80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FB88-ECE1-4E48-AC33-8416049B5746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21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D6F68-2D3E-4861-8E87-0E7287B2EED7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9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D12D-D155-42F1-A2BD-CF8B84AECAAB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93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620D2-DE48-432C-95F8-1B48399E768D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85158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05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9E89-24B2-4DC9-9E34-718D1200568E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9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D3442-1E98-4AEC-AA5A-1755A60CECBC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29B06-CF2A-459A-8CBC-F18C1D67D2BB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159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D676-58BC-47A2-82A2-7EDE8F298211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9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7DFA1-AC7B-4493-AA94-368A78C11118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5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9612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pattFill prst="pct30">
          <a:fgClr>
            <a:srgbClr val="81674B"/>
          </a:fgClr>
          <a:bgClr>
            <a:srgbClr val="5C3D1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E9620D2-DE48-432C-95F8-1B48399E768D}" type="datetime1">
              <a:rPr lang="en-US" altLang="ko-KR" smtClean="0"/>
              <a:t>4/1/2026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27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63" r:id="rId12"/>
    <p:sldLayoutId id="2147483656" r:id="rId13"/>
  </p:sldLayoutIdLs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51025" y="1790100"/>
            <a:ext cx="7648486" cy="5408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67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92020" y="1013095"/>
            <a:ext cx="8737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000000</a:t>
            </a:r>
            <a:r>
              <a:rPr lang="ko-KR" altLang="en-US" sz="3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제안서 발표자료</a:t>
            </a:r>
            <a:endParaRPr lang="en-US" altLang="ko-KR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4757" y="2007280"/>
            <a:ext cx="9789577" cy="3368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작성유의사항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&gt;</a:t>
            </a:r>
          </a:p>
          <a:p>
            <a:pPr algn="ctr"/>
            <a:endParaRPr lang="en-US" altLang="ko-KR" sz="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심사대상으로 </a:t>
            </a:r>
            <a:r>
              <a:rPr lang="ko-KR" altLang="en-US" sz="16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선정시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공법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자재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대한 발표는 제안사가 발표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발표시간은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분이므로 이를 고려하여 분량을 표지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목차  등 포함 최대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23page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작성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나눔바른고딕" panose="020B0603020101020101" pitchFamily="50" charset="-127"/>
              </a:rPr>
              <a:t>   * </a:t>
            </a:r>
            <a:r>
              <a:rPr lang="ko-KR" altLang="en-US" sz="1400" dirty="0">
                <a:ea typeface="나눔바른고딕" panose="020B0603020101020101" pitchFamily="50" charset="-127"/>
              </a:rPr>
              <a:t>발표시간 초과 시 즉각 발표 중지 조치 예정</a:t>
            </a:r>
            <a:r>
              <a:rPr lang="en-US" altLang="ko-KR" sz="1400" dirty="0"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ea typeface="나눔바른고딕" panose="020B0603020101020101" pitchFamily="50" charset="-127"/>
              </a:rPr>
              <a:t>내용별 지정분량 초과 시 감점 예정 </a:t>
            </a:r>
            <a:r>
              <a:rPr lang="en-US" altLang="ko-KR" sz="1400" dirty="0">
                <a:ea typeface="나눔바른고딕" panose="020B0603020101020101" pitchFamily="50" charset="-127"/>
              </a:rPr>
              <a:t>(</a:t>
            </a:r>
            <a:r>
              <a:rPr lang="ko-KR" altLang="en-US" sz="1400" dirty="0">
                <a:ea typeface="나눔바른고딕" panose="020B0603020101020101" pitchFamily="50" charset="-127"/>
              </a:rPr>
              <a:t>쪽당</a:t>
            </a:r>
            <a:r>
              <a:rPr lang="en-US" altLang="ko-KR" sz="1400" dirty="0">
                <a:ea typeface="나눔바른고딕" panose="020B0603020101020101" pitchFamily="50" charset="-127"/>
              </a:rPr>
              <a:t>0.2</a:t>
            </a:r>
            <a:r>
              <a:rPr lang="ko-KR" altLang="en-US" sz="1400" dirty="0">
                <a:ea typeface="나눔바른고딕" panose="020B0603020101020101" pitchFamily="50" charset="-127"/>
              </a:rPr>
              <a:t>점</a:t>
            </a:r>
            <a:r>
              <a:rPr lang="en-US" altLang="ko-KR" sz="1400" dirty="0"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주요 목차는 반드시 준수하고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세부내용은 기술평가 항목 및 평가기준을 참고하여 작성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평가항목에 해당하는 내용 누락 시 해당항목에 대하여 점수 </a:t>
            </a: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미부여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될 수 있음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신기술 및 특허번호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공법명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기재 금지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기업명</a:t>
            </a:r>
            <a:r>
              <a:rPr lang="en-US" altLang="ko-KR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성명 등 발표기업 식별가능한 사항 표기 금지</a:t>
            </a:r>
            <a:endParaRPr lang="en-US" altLang="ko-KR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제공된 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PPT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양식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배경포함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외 인위적 변경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금지</a:t>
            </a:r>
            <a:endParaRPr lang="en-US" altLang="ko-KR" sz="16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 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부적절한 자료는 사업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</a:t>
            </a:r>
            <a:r>
              <a:rPr lang="en-US" altLang="ko-KR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6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부서에서 참여업체에 통보 후 삭제 등 필요한 조치 예정</a:t>
            </a:r>
            <a:endParaRPr lang="en-US" altLang="ko-KR" sz="10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33525" y="5237521"/>
            <a:ext cx="1654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2026. 00.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988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r="-401"/>
          <a:stretch/>
        </p:blipFill>
        <p:spPr>
          <a:xfrm rot="10800000">
            <a:off x="0" y="-1"/>
            <a:ext cx="12192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6274" y="475880"/>
            <a:ext cx="11585725" cy="93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8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&lt; </a:t>
            </a:r>
            <a:r>
              <a:rPr lang="ko-KR" altLang="en-US" sz="3508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목    차 </a:t>
            </a:r>
            <a:r>
              <a:rPr lang="en-US" altLang="ko-KR" sz="3508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&gt; </a:t>
            </a:r>
            <a:r>
              <a:rPr kumimoji="1" lang="ko-KR" altLang="en-US" sz="20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기술평가 항목 및 기준에 맞춰 목차 작성</a:t>
            </a:r>
            <a:r>
              <a:rPr kumimoji="1" lang="en-US" altLang="ko-KR" sz="20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1" lang="ko-KR" altLang="en-US" sz="20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사업설계부서</a:t>
            </a:r>
            <a:r>
              <a:rPr kumimoji="1" lang="en-US" altLang="ko-KR" sz="20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r>
              <a:rPr kumimoji="1" lang="en-US" altLang="ko-KR" sz="20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                           * </a:t>
            </a:r>
            <a:r>
              <a:rPr kumimoji="1" lang="ko-KR" altLang="en-US" sz="20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제안서</a:t>
            </a:r>
            <a:r>
              <a:rPr kumimoji="1" lang="en-US" altLang="ko-KR" sz="20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1" lang="en-US" altLang="ko-KR" sz="200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hwp</a:t>
            </a:r>
            <a:r>
              <a:rPr kumimoji="1" lang="en-US" altLang="ko-KR" sz="20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  <a:r>
              <a:rPr kumimoji="1" lang="ko-KR" altLang="en-US" sz="20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내용과 작성분량 동일 </a:t>
            </a:r>
            <a:endParaRPr lang="en-US" altLang="ko-KR" sz="3508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778" y="1772489"/>
            <a:ext cx="6711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Ⅰ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공법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자재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개요 및 특징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674" y="2478487"/>
            <a:ext cx="6711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Ⅱ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품질성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5p)</a:t>
            </a:r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9777" y="3879591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Ⅳ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시공성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5p)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673" y="3179039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Ⅲ. </a:t>
            </a:r>
            <a:r>
              <a:rPr kumimoji="1" lang="ko-KR" altLang="en-US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유지관리성 </a:t>
            </a:r>
            <a:r>
              <a:rPr kumimoji="1" lang="en-US" altLang="ko-KR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kumimoji="1" lang="ko-KR" altLang="en-US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kumimoji="1" lang="en-US" altLang="ko-KR" sz="240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2p)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F97E98-0D60-425F-9C24-562A2BBA6079}"/>
              </a:ext>
            </a:extLst>
          </p:cNvPr>
          <p:cNvSpPr txBox="1"/>
          <p:nvPr/>
        </p:nvSpPr>
        <p:spPr>
          <a:xfrm>
            <a:off x="189673" y="4585589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b="1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Ⅴ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 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안전성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3p)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7B9B48-6A9F-413F-8B13-7B8294D4F44B}"/>
              </a:ext>
            </a:extLst>
          </p:cNvPr>
          <p:cNvSpPr txBox="1"/>
          <p:nvPr/>
        </p:nvSpPr>
        <p:spPr>
          <a:xfrm>
            <a:off x="189673" y="5286141"/>
            <a:ext cx="723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Ⅵ.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환경성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최대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2p)</a:t>
            </a:r>
          </a:p>
        </p:txBody>
      </p:sp>
    </p:spTree>
    <p:extLst>
      <p:ext uri="{BB962C8B-B14F-4D97-AF65-F5344CB8AC3E}">
        <p14:creationId xmlns:p14="http://schemas.microsoft.com/office/powerpoint/2010/main" val="2796878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Ⅰ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공법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자재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개요 및 특징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6195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Ⅰ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공법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자재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개요 및 특징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525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Ⅰ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공법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자재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개요 및 특징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911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9177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036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061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235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0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8054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Ⅲ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유지관리성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0243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Ⅲ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유지관리성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2137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5735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0495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0546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6283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2803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Ⅴ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안전성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5987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Ⅴ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안전성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5541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BE2108-99FD-4C6E-8CF1-0D50FAB81DFB}"/>
              </a:ext>
            </a:extLst>
          </p:cNvPr>
          <p:cNvGrpSpPr/>
          <p:nvPr/>
        </p:nvGrpSpPr>
        <p:grpSpPr>
          <a:xfrm>
            <a:off x="0" y="182747"/>
            <a:ext cx="12192000" cy="531751"/>
            <a:chOff x="1524000" y="182747"/>
            <a:chExt cx="9144000" cy="531751"/>
          </a:xfrm>
        </p:grpSpPr>
        <p:cxnSp>
          <p:nvCxnSpPr>
            <p:cNvPr id="14" name="직선 연결선 13"/>
            <p:cNvCxnSpPr/>
            <p:nvPr/>
          </p:nvCxnSpPr>
          <p:spPr>
            <a:xfrm>
              <a:off x="1524000" y="705705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4"/>
            <p:cNvSpPr/>
            <p:nvPr/>
          </p:nvSpPr>
          <p:spPr>
            <a:xfrm>
              <a:off x="1845454" y="182747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2215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Ⅴ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524000" y="182747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32334" y="212350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안전성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1165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Ⅵ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환경성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2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689397" y="6562285"/>
            <a:ext cx="730250" cy="274320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9481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 dirty="0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Ⅵ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</a:t>
              </a:r>
              <a:r>
                <a:rPr lang="ko-KR" altLang="en-US" sz="2400" dirty="0" err="1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환경성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sp>
        <p:nvSpPr>
          <p:cNvPr id="32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689397" y="6562285"/>
            <a:ext cx="730250" cy="274320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7535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713994" y="1821446"/>
            <a:ext cx="4764012" cy="3215108"/>
          </a:xfrm>
          <a:prstGeom prst="rect">
            <a:avLst/>
          </a:prstGeom>
          <a:solidFill>
            <a:schemeClr val="bg1">
              <a:alpha val="67000"/>
            </a:schemeClr>
          </a:solidFill>
          <a:ln w="635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87089" y="2921170"/>
            <a:ext cx="42178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effectLst>
                  <a:outerShdw blurRad="114300" algn="ctr" rotWithShape="0">
                    <a:prstClr val="white">
                      <a:alpha val="40000"/>
                    </a:prst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sz="6000" dirty="0">
                <a:effectLst>
                  <a:outerShdw blurRad="114300" algn="ctr" rotWithShape="0">
                    <a:prstClr val="white">
                      <a:alpha val="40000"/>
                    </a:prst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sz="6000" dirty="0">
              <a:effectLst>
                <a:outerShdw blurRad="114300" algn="ctr" rotWithShape="0">
                  <a:prstClr val="white">
                    <a:alpha val="40000"/>
                  </a:prst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6762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전체">
  <a:themeElements>
    <a:clrScheme name="전체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전체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전체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29891</TotalTime>
  <Words>272</Words>
  <Application>Microsoft Office PowerPoint</Application>
  <PresentationFormat>와이드스크린</PresentationFormat>
  <Paragraphs>63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HY얕은샘물M</vt:lpstr>
      <vt:lpstr>HY헤드라인M</vt:lpstr>
      <vt:lpstr>나눔바른고딕</vt:lpstr>
      <vt:lpstr>맑은 고딕</vt:lpstr>
      <vt:lpstr>Calibri</vt:lpstr>
      <vt:lpstr>Tw Cen MT</vt:lpstr>
      <vt:lpstr>Tw Cen MT Condensed</vt:lpstr>
      <vt:lpstr>Wingdings 3</vt:lpstr>
      <vt:lpstr>전체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스머프마을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투덜이</dc:creator>
  <cp:lastModifiedBy>kwater</cp:lastModifiedBy>
  <cp:revision>2335</cp:revision>
  <cp:lastPrinted>2020-05-22T02:04:34Z</cp:lastPrinted>
  <dcterms:created xsi:type="dcterms:W3CDTF">2011-05-20T09:12:55Z</dcterms:created>
  <dcterms:modified xsi:type="dcterms:W3CDTF">2026-03-31T23:43:48Z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zMzU3IiwibG9nVGltZSI6IjIwMjYtMDMtMzFUMjM6NDM6NDhaIiwicElEIjoxLCJwcm9jZXNzSWQiOjEyODg4LCJwcm9jZXNzTmFtZSI6IlBPV0VSUE5ULkVYRSIsInRyYWNlSWQiOiIwN0MzRUZFRTVGNDU0MzAxQjRGNDE5MjQzQ0REN0ZERSIsInVzZXJDb2RlIjoiMjAxOTQzODMifSwibm9kZTIiOnsiZHNkIjoiMDEwMDAwMDAwMDAwMzM1NyIsImxvZ1RpbWUiOiIyMDI2LTAzLTMxVDIzOjQzOjQ4WiIsInBJRCI6MSwicHJvY2Vzc0lkIjoxMjg4OCwicHJvY2Vzc05hbWUiOiJQT1dFUlBOVC5FWEUiLCJ0cmFjZUlkIjoiMDdDM0VGRUU1RjQ1NDMwMUI0RjQxOTI0M0NERDdGREUiLCJ1c2VyQ29kZSI6IjIwMTk0MzgzIn0sIm5vZGUzIjp7ImRzZCI6IjAxMDAwMDAwMDAwMDMzNTciLCJsb2dUaW1lIjoiMjAyNi0wMy0zMVQyMzo0Mzo0OFoiLCJwSUQiOjEsInByb2Nlc3NJZCI6MTI4ODgsInByb2Nlc3NOYW1lIjoiUE9XRVJQTlQuRVhFIiwidHJhY2VJZCI6IjA3QzNFRkVFNUY0NTQzMDFCNEY0MTkyNDNDREQ3RkRFIiwidXNlckNvZGUiOiIyMDE5NDM4MyJ9LCJub2RlNCI6eyJkc2QiOiIwMTAwMDAwMDAwMDAzMzU3IiwibG9nVGltZSI6IjIwMjYtMDMtMzFUMjM6NDM6NDhaIiwicElEIjoxLCJwcm9jZXNzSWQiOjEyODg4LCJwcm9jZXNzTmFtZSI6IlBPV0VSUE5ULkVYRSIsInRyYWNlSWQiOiIwN0MzRUZFRTVGNDU0MzAxQjRGNDE5MjQzQ0REN0ZERSIsInVzZXJDb2RlIjoiMjAxOTQzODMifSwibm9kZTUiOnsiZHNkIjoiMDAwMDAwMDAwMDAwMDAwMCIsImxvZ1RpbWUiOiIyMDI2LTA0LTAxVDAwOjQyOjQ0WiIsInBJRCI6MjA0OCwicHJvY2Vzc0lkIjoxMjg4OCwicHJvY2Vzc05hbWUiOiJQT1dFUlBOVC5FWEUiLCJ0cmFjZUlkIjoiMkIxRUM1QTU2MkFENDBBOUE5MjMwQUJDNEM0QjA2NjUiLCJ1c2VyQ29kZSI6IjIwMTk0MzgzIn0sIm5vZGVDb3VudCI6Miwicm9vdFRyYWNlSWQiOiIwN0MzRUZFRTVGNDU0MzAxQjRGNDE5MjQzQ0REN0ZERSJ9</vt:lpwstr>
  </property>
</Properties>
</file>